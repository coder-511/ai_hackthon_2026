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EBABB1-7F4A-4DDD-8CA5-3238C352CBC1}" type="datetimeFigureOut">
              <a:rPr lang="en-US" smtClean="0"/>
              <a:t>10/10/2026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184683E-ADEB-4080-8E99-FC9D96C5E405}" type="slidenum">
              <a:rPr lang="en-US" smtClean="0"/>
              <a:t>‹#›</a:t>
            </a:fld>
            <a:endParaRPr lang="en-US"/>
          </a:p>
        </p:txBody>
      </p:sp>
    </p:spTree>
    <p:extLst>
      <p:ext uri="{BB962C8B-B14F-4D97-AF65-F5344CB8AC3E}">
        <p14:creationId xmlns:p14="http://schemas.microsoft.com/office/powerpoint/2010/main" val="40027943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ahoma" panose="020B0604030504040204" pitchFamily="34" charset="0"/>
              </a:rPr>
              <a:t>TIMING: 0:00-0:30 / 30 seconds</a:t>
            </a:r>
          </a:p>
          <a:p>
            <a:r>
              <a:rPr lang="en-US">
                <a:latin typeface="Tahoma" panose="020B0604030504040204" pitchFamily="34" charset="0"/>
              </a:rPr>
              <a:t>DELIVERY: Arabic. Slides: English. Main pitch ends on slide 8.</a:t>
            </a:r>
          </a:p>
          <a:p>
            <a:endParaRPr lang="en-US">
              <a:latin typeface="Tahoma" panose="020B0604030504040204" pitchFamily="34" charset="0"/>
            </a:endParaRPr>
          </a:p>
          <a:p>
            <a:r>
              <a:rPr lang="en-US">
                <a:latin typeface="Tahoma" panose="020B0604030504040204" pitchFamily="34" charset="0"/>
              </a:rPr>
              <a:t>### 1 — </a:t>
            </a:r>
            <a:r>
              <a:rPr lang="ar-JO">
                <a:latin typeface="Tahoma" panose="020B0604030504040204" pitchFamily="34" charset="0"/>
              </a:rPr>
              <a:t>الفكرة، 30 ثانية
«تخيّل حفرة في شارع تستخدمه كل يوم. أنت تعرف المشكلة، لكن لا تعرف الجهة الصحيحة، ولا التفاصيل المطلوبة، ولا ما الذي سيحدث بعد إرسال البلاغ. مشكلتي تحول هذا البلاغ إلى مسار واضح: المواطن يصف المشكلة، الذكاء الاصطناعي يساعد في الفرز، والمراجع البشري يتخذ القرار. هدفنا ليس أن يحل الذكاء الاصطناعي محل البلدية؛ هدفنا أن يبدأ العمل بمعلومات أوضح.»
افتح بهدوء. لا تبدأ بقائمة </a:t>
            </a:r>
            <a:r>
              <a:rPr lang="en-US">
                <a:latin typeface="Tahoma" panose="020B0604030504040204" pitchFamily="34" charset="0"/>
              </a:rPr>
              <a:t>Laravel </a:t>
            </a:r>
            <a:r>
              <a:rPr lang="ar-JO">
                <a:latin typeface="Tahoma" panose="020B0604030504040204" pitchFamily="34" charset="0"/>
              </a:rPr>
              <a:t>و</a:t>
            </a:r>
            <a:r>
              <a:rPr lang="en-US">
                <a:latin typeface="Tahoma" panose="020B0604030504040204" pitchFamily="34" charset="0"/>
              </a:rPr>
              <a:t>PHP. </a:t>
            </a:r>
            <a:r>
              <a:rPr lang="ar-JO">
                <a:latin typeface="Tahoma" panose="020B0604030504040204" pitchFamily="34" charset="0"/>
              </a:rPr>
              <a:t>المثال تخيّلي، وليس شهادة مواطن أو حادثة موثقة.
</a:t>
            </a:r>
            <a:endParaRPr lang="en-US">
              <a:latin typeface="Tahoma" panose="020B0604030504040204" pitchFamily="34" charset="0"/>
            </a:endParaRPr>
          </a:p>
        </p:txBody>
      </p:sp>
      <p:sp>
        <p:nvSpPr>
          <p:cNvPr id="4" name="Slide Number Placeholder 3"/>
          <p:cNvSpPr>
            <a:spLocks noGrp="1"/>
          </p:cNvSpPr>
          <p:nvPr>
            <p:ph type="sldNum" sz="quarter" idx="5"/>
          </p:nvPr>
        </p:nvSpPr>
        <p:spPr/>
        <p:txBody>
          <a:bodyPr/>
          <a:lstStyle/>
          <a:p>
            <a:fld id="{D184683E-ADEB-4080-8E99-FC9D96C5E405}" type="slidenum">
              <a:rPr lang="en-US" smtClean="0"/>
              <a:t>1</a:t>
            </a:fld>
            <a:endParaRPr lang="en-US"/>
          </a:p>
        </p:txBody>
      </p:sp>
    </p:spTree>
    <p:extLst>
      <p:ext uri="{BB962C8B-B14F-4D97-AF65-F5344CB8AC3E}">
        <p14:creationId xmlns:p14="http://schemas.microsoft.com/office/powerpoint/2010/main" val="5768926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ahoma" panose="020B0604030504040204" pitchFamily="34" charset="0"/>
              </a:rPr>
              <a:t>TIMING: 0:30-1:10 / 40 seconds</a:t>
            </a:r>
          </a:p>
          <a:p>
            <a:r>
              <a:rPr lang="en-US">
                <a:latin typeface="Tahoma" panose="020B0604030504040204" pitchFamily="34" charset="0"/>
              </a:rPr>
              <a:t>DELIVERY: Arabic. Slides: English. Main pitch ends on slide 8.</a:t>
            </a:r>
          </a:p>
          <a:p>
            <a:endParaRPr lang="en-US">
              <a:latin typeface="Tahoma" panose="020B0604030504040204" pitchFamily="34" charset="0"/>
            </a:endParaRPr>
          </a:p>
          <a:p>
            <a:r>
              <a:rPr lang="en-US">
                <a:latin typeface="Tahoma" panose="020B0604030504040204" pitchFamily="34" charset="0"/>
              </a:rPr>
              <a:t>### 2 — </a:t>
            </a:r>
            <a:r>
              <a:rPr lang="ar-JO">
                <a:latin typeface="Tahoma" panose="020B0604030504040204" pitchFamily="34" charset="0"/>
              </a:rPr>
              <a:t>المشكلة والفئة، 40 ثانية
«الفئة الأولى هي المواطن الأردني الذي يبلّغ عن مشكلة عامة، مثل طريق أو إنارة أو صرف، خاصة من يفضّل العربية ولا يعرف أسماء الدوائر. والفئة الثانية هي المراجع الذي يحتاج معلومات كافية ليقرر الخطوة التالية. توجد بالفعل قنوات حكومية وتطبيقات للبلاغات. لذلك لا ندّعي اختراع إرسال الشكاوى. فرضيتنا هي أن إعداد بلاغ أوضح قبل المراجعة قد يقلل الاستيضاحات المتكررة. هذه فرضية سنقيسها، وليست نسبة تحسن ندّعي تحقيقها.»
إذا سأل الحكم عن كبار السن أو غير مستخدمي الإنترنت: الواجهة العربية والخريطة تقللان بعض الصعوبة، لكن لا تعالجان الإقصاء الرقمي بالكامل. القنوات المساعدة وغير الرقمية مقترحة، وغير منفذة. النظام الحالي ليس موجهاً لكل المقيمين؛ التسجيل مرتبط بهوية مواطن في السجل التجريبي.
</a:t>
            </a:r>
            <a:endParaRPr lang="en-US">
              <a:latin typeface="Tahoma" panose="020B0604030504040204" pitchFamily="34" charset="0"/>
            </a:endParaRPr>
          </a:p>
        </p:txBody>
      </p:sp>
      <p:sp>
        <p:nvSpPr>
          <p:cNvPr id="4" name="Slide Number Placeholder 3"/>
          <p:cNvSpPr>
            <a:spLocks noGrp="1"/>
          </p:cNvSpPr>
          <p:nvPr>
            <p:ph type="sldNum" sz="quarter" idx="5"/>
          </p:nvPr>
        </p:nvSpPr>
        <p:spPr/>
        <p:txBody>
          <a:bodyPr/>
          <a:lstStyle/>
          <a:p>
            <a:fld id="{D184683E-ADEB-4080-8E99-FC9D96C5E405}" type="slidenum">
              <a:rPr lang="en-US" smtClean="0"/>
              <a:t>2</a:t>
            </a:fld>
            <a:endParaRPr lang="en-US"/>
          </a:p>
        </p:txBody>
      </p:sp>
    </p:spTree>
    <p:extLst>
      <p:ext uri="{BB962C8B-B14F-4D97-AF65-F5344CB8AC3E}">
        <p14:creationId xmlns:p14="http://schemas.microsoft.com/office/powerpoint/2010/main" val="18017470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ahoma" panose="020B0604030504040204" pitchFamily="34" charset="0"/>
              </a:rPr>
              <a:t>TIMING: 1:10-1:50 / 40 seconds</a:t>
            </a:r>
          </a:p>
          <a:p>
            <a:r>
              <a:rPr lang="en-US">
                <a:latin typeface="Tahoma" panose="020B0604030504040204" pitchFamily="34" charset="0"/>
              </a:rPr>
              <a:t>DELIVERY: Arabic. Slides: English. Main pitch ends on slide 8.</a:t>
            </a:r>
          </a:p>
          <a:p>
            <a:endParaRPr lang="en-US">
              <a:latin typeface="Tahoma" panose="020B0604030504040204" pitchFamily="34" charset="0"/>
            </a:endParaRPr>
          </a:p>
          <a:p>
            <a:r>
              <a:rPr lang="en-US">
                <a:latin typeface="Tahoma" panose="020B0604030504040204" pitchFamily="34" charset="0"/>
              </a:rPr>
              <a:t>### 3 — </a:t>
            </a:r>
            <a:r>
              <a:rPr lang="ar-JO">
                <a:latin typeface="Tahoma" panose="020B0604030504040204" pitchFamily="34" charset="0"/>
              </a:rPr>
              <a:t>رحلة البلاغ، 40 ثانية
«المواطن يحدد مكان المشكلة على الخريطة، ويكتب وصفاً ويرفق صوراً إذا احتاج. البلاغ يبقى خاصاً. بعد استلامه، يبدأ الفرز في الخلفية: تصنيف مقترح، شدة مقترحة، وأسئلة عن المعلومات الناقصة. المراجع يتحقق من الموقع والاختصاص، ثم يطلب تفاصيل أو يقبل أو يرفض مع سبب. المواطن يتابع الحالة. وحتى الحساب المقيّد يمكنه الدخول وقراءة الحالة وطلب مراجعة؛ تقييد الإرسال لا يعني حذف صوته.»
لا تقل إن كل بلاغ يُقبل أو إن الموقع يثبت الاختصاص تلقائياً. الأدلة والصور للمراجعة البشرية، وليست مدخلات رؤية حاسوبية في هذه النسخة.
</a:t>
            </a:r>
            <a:endParaRPr lang="en-US">
              <a:latin typeface="Tahoma" panose="020B0604030504040204" pitchFamily="34" charset="0"/>
            </a:endParaRPr>
          </a:p>
        </p:txBody>
      </p:sp>
      <p:sp>
        <p:nvSpPr>
          <p:cNvPr id="4" name="Slide Number Placeholder 3"/>
          <p:cNvSpPr>
            <a:spLocks noGrp="1"/>
          </p:cNvSpPr>
          <p:nvPr>
            <p:ph type="sldNum" sz="quarter" idx="5"/>
          </p:nvPr>
        </p:nvSpPr>
        <p:spPr/>
        <p:txBody>
          <a:bodyPr/>
          <a:lstStyle/>
          <a:p>
            <a:fld id="{D184683E-ADEB-4080-8E99-FC9D96C5E405}" type="slidenum">
              <a:rPr lang="en-US" smtClean="0"/>
              <a:t>3</a:t>
            </a:fld>
            <a:endParaRPr lang="en-US"/>
          </a:p>
        </p:txBody>
      </p:sp>
    </p:spTree>
    <p:extLst>
      <p:ext uri="{BB962C8B-B14F-4D97-AF65-F5344CB8AC3E}">
        <p14:creationId xmlns:p14="http://schemas.microsoft.com/office/powerpoint/2010/main" val="1681759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ahoma" panose="020B0604030504040204" pitchFamily="34" charset="0"/>
              </a:rPr>
              <a:t>TIMING: 1:50-3:30 / 100 seconds including window switches</a:t>
            </a:r>
          </a:p>
          <a:p>
            <a:r>
              <a:rPr lang="en-US">
                <a:latin typeface="Tahoma" panose="020B0604030504040204" pitchFamily="34" charset="0"/>
              </a:rPr>
              <a:t>DELIVERY: Arabic. Slides: English. Main pitch ends on slide 8.</a:t>
            </a:r>
          </a:p>
          <a:p>
            <a:endParaRPr lang="en-US">
              <a:latin typeface="Tahoma" panose="020B0604030504040204" pitchFamily="34" charset="0"/>
            </a:endParaRPr>
          </a:p>
          <a:p>
            <a:r>
              <a:rPr lang="en-US">
                <a:latin typeface="Tahoma" panose="020B0604030504040204" pitchFamily="34" charset="0"/>
              </a:rPr>
              <a:t>### 4 — </a:t>
            </a:r>
            <a:r>
              <a:rPr lang="ar-JO">
                <a:latin typeface="Tahoma" panose="020B0604030504040204" pitchFamily="34" charset="0"/>
              </a:rPr>
              <a:t>التجربة الحية، 100 ثانية
«سنستخدم الآن حالة تجريبية في عمّان، وليست بيانات مواطن حقيقي. هذه واجهة المواطن: وصف، موقع المشكلة، وصور اختيارية. الموافقة على التحليل الخارجي مستقلة. بعد الإرسال نرى رمز التتبع. ولتجنب انتظار مزود الذكاء الاصطناعي على المسرح، هذه حالة حضّرناها مسبقاً ونتيجتها المسجلة أمام المراجع. انظروا إلى المزود والتصنيف والأسئلة، ثم إلى اختيار الجهة البشرية. هذه الموافقة تسجل قراراً وتبدأ تسليماً محاكياً فقط؛ لم نرسل طلباً إلى الحكومة. وأخيراً نعود إلى المواطن لنرى الحالة وسبب القرار.»
نفّذ الخطوات الموجودة أدناه. لا تقرأ هذا النص دفعة واحدة؛ قل كل جملة عند إظهار ما يثبتها. لا تعرض كلمة المرور، </a:t>
            </a:r>
            <a:r>
              <a:rPr lang="en-US">
                <a:latin typeface="Tahoma" panose="020B0604030504040204" pitchFamily="34" charset="0"/>
              </a:rPr>
              <a:t>TOTP، </a:t>
            </a:r>
            <a:r>
              <a:rPr lang="ar-JO">
                <a:latin typeface="Tahoma" panose="020B0604030504040204" pitchFamily="34" charset="0"/>
              </a:rPr>
              <a:t>مفتاح إعداد </a:t>
            </a:r>
            <a:r>
              <a:rPr lang="en-US">
                <a:latin typeface="Tahoma" panose="020B0604030504040204" pitchFamily="34" charset="0"/>
              </a:rPr>
              <a:t>MFA، `.env` </a:t>
            </a:r>
            <a:r>
              <a:rPr lang="ar-JO">
                <a:latin typeface="Tahoma" panose="020B0604030504040204" pitchFamily="34" charset="0"/>
              </a:rPr>
              <a:t>أو ملفات سجلات </a:t>
            </a:r>
            <a:r>
              <a:rPr lang="en-US">
                <a:latin typeface="Tahoma" panose="020B0604030504040204" pitchFamily="34" charset="0"/>
              </a:rPr>
              <a:t>SMS </a:t>
            </a:r>
            <a:r>
              <a:rPr lang="ar-JO">
                <a:latin typeface="Tahoma" panose="020B0604030504040204" pitchFamily="34" charset="0"/>
              </a:rPr>
              <a:t>أمام الجمهور.
</a:t>
            </a:r>
            <a:endParaRPr lang="en-US">
              <a:latin typeface="Tahoma" panose="020B0604030504040204" pitchFamily="34" charset="0"/>
            </a:endParaRPr>
          </a:p>
        </p:txBody>
      </p:sp>
      <p:sp>
        <p:nvSpPr>
          <p:cNvPr id="4" name="Slide Number Placeholder 3"/>
          <p:cNvSpPr>
            <a:spLocks noGrp="1"/>
          </p:cNvSpPr>
          <p:nvPr>
            <p:ph type="sldNum" sz="quarter" idx="5"/>
          </p:nvPr>
        </p:nvSpPr>
        <p:spPr/>
        <p:txBody>
          <a:bodyPr/>
          <a:lstStyle/>
          <a:p>
            <a:fld id="{D184683E-ADEB-4080-8E99-FC9D96C5E405}" type="slidenum">
              <a:rPr lang="en-US" smtClean="0"/>
              <a:t>4</a:t>
            </a:fld>
            <a:endParaRPr lang="en-US"/>
          </a:p>
        </p:txBody>
      </p:sp>
    </p:spTree>
    <p:extLst>
      <p:ext uri="{BB962C8B-B14F-4D97-AF65-F5344CB8AC3E}">
        <p14:creationId xmlns:p14="http://schemas.microsoft.com/office/powerpoint/2010/main" val="31651748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ahoma" panose="020B0604030504040204" pitchFamily="34" charset="0"/>
              </a:rPr>
              <a:t>TIMING: 3:30-4:20 / 50 seconds</a:t>
            </a:r>
          </a:p>
          <a:p>
            <a:r>
              <a:rPr lang="en-US">
                <a:latin typeface="Tahoma" panose="020B0604030504040204" pitchFamily="34" charset="0"/>
              </a:rPr>
              <a:t>DELIVERY: Arabic. Slides: English. Main pitch ends on slide 8.</a:t>
            </a:r>
          </a:p>
          <a:p>
            <a:endParaRPr lang="en-US">
              <a:latin typeface="Tahoma" panose="020B0604030504040204" pitchFamily="34" charset="0"/>
            </a:endParaRPr>
          </a:p>
          <a:p>
            <a:r>
              <a:rPr lang="en-US">
                <a:latin typeface="Tahoma" panose="020B0604030504040204" pitchFamily="34" charset="0"/>
              </a:rPr>
              <a:t>### 5 — </a:t>
            </a:r>
            <a:r>
              <a:rPr lang="ar-JO">
                <a:latin typeface="Tahoma" panose="020B0604030504040204" pitchFamily="34" charset="0"/>
              </a:rPr>
              <a:t>دور الذكاء الاصطناعي، 50 ثانية
«القيمة هنا ليست دردشة عامة. النموذج يحول وصفاً عربياً أو إنجليزياً إلى اقتراحات منظمة تساعد المراجع. نستخدم </a:t>
            </a:r>
            <a:r>
              <a:rPr lang="en-US">
                <a:latin typeface="Tahoma" panose="020B0604030504040204" pitchFamily="34" charset="0"/>
              </a:rPr>
              <a:t>Gemini </a:t>
            </a:r>
            <a:r>
              <a:rPr lang="ar-JO">
                <a:latin typeface="Tahoma" panose="020B0604030504040204" pitchFamily="34" charset="0"/>
              </a:rPr>
              <a:t>عندما توجد موافقة وإعداد صالح، وليس نموذجاً درّبناه أو حسّنّاه بأنفسنا. </a:t>
            </a:r>
            <a:r>
              <a:rPr lang="en-US">
                <a:latin typeface="Tahoma" panose="020B0604030504040204" pitchFamily="34" charset="0"/>
              </a:rPr>
              <a:t>Laravel </a:t>
            </a:r>
            <a:r>
              <a:rPr lang="ar-JO">
                <a:latin typeface="Tahoma" panose="020B0604030504040204" pitchFamily="34" charset="0"/>
              </a:rPr>
              <a:t>يتحقق من المخرجات، والصلاحيات تظل في الخادم. النموذج لا يقبل البلاغ، ولا يحظر المستخدم، ولا يختار جهة نهائية، ولا ينفذ روابط أو أوامر. عند الفشل تنتقل الحالة للمراجعة. هذا يقلل بعض المخاطر، لكنه لا يضمن دقة النموذج أو منع كل حقن تعليمات.»
إذا كانت النتيجة المعروضة `</a:t>
            </a:r>
            <a:r>
              <a:rPr lang="en-US">
                <a:latin typeface="Tahoma" panose="020B0604030504040204" pitchFamily="34" charset="0"/>
              </a:rPr>
              <a:t>local`، </a:t>
            </a:r>
            <a:r>
              <a:rPr lang="ar-JO">
                <a:latin typeface="Tahoma" panose="020B0604030504040204" pitchFamily="34" charset="0"/>
              </a:rPr>
              <a:t>قل إنها قواعد محلية، لا </a:t>
            </a:r>
            <a:r>
              <a:rPr lang="en-US">
                <a:latin typeface="Tahoma" panose="020B0604030504040204" pitchFamily="34" charset="0"/>
              </a:rPr>
              <a:t>Gemini. </a:t>
            </a:r>
            <a:r>
              <a:rPr lang="ar-JO">
                <a:latin typeface="Tahoma" panose="020B0604030504040204" pitchFamily="34" charset="0"/>
              </a:rPr>
              <a:t>إذا كان عرض </a:t>
            </a:r>
            <a:r>
              <a:rPr lang="en-US">
                <a:latin typeface="Tahoma" panose="020B0604030504040204" pitchFamily="34" charset="0"/>
              </a:rPr>
              <a:t>Gemini </a:t>
            </a:r>
            <a:r>
              <a:rPr lang="ar-JO">
                <a:latin typeface="Tahoma" panose="020B0604030504040204" pitchFamily="34" charset="0"/>
              </a:rPr>
              <a:t>محفوظاً مسبقاً، قل ذلك بصراحة. ثقة النموذج ليست احتمالاً معايراً لصحة البلاغ.
</a:t>
            </a:r>
            <a:endParaRPr lang="en-US">
              <a:latin typeface="Tahoma" panose="020B0604030504040204" pitchFamily="34" charset="0"/>
            </a:endParaRPr>
          </a:p>
        </p:txBody>
      </p:sp>
      <p:sp>
        <p:nvSpPr>
          <p:cNvPr id="4" name="Slide Number Placeholder 3"/>
          <p:cNvSpPr>
            <a:spLocks noGrp="1"/>
          </p:cNvSpPr>
          <p:nvPr>
            <p:ph type="sldNum" sz="quarter" idx="5"/>
          </p:nvPr>
        </p:nvSpPr>
        <p:spPr/>
        <p:txBody>
          <a:bodyPr/>
          <a:lstStyle/>
          <a:p>
            <a:fld id="{D184683E-ADEB-4080-8E99-FC9D96C5E405}" type="slidenum">
              <a:rPr lang="en-US" smtClean="0"/>
              <a:t>5</a:t>
            </a:fld>
            <a:endParaRPr lang="en-US"/>
          </a:p>
        </p:txBody>
      </p:sp>
    </p:spTree>
    <p:extLst>
      <p:ext uri="{BB962C8B-B14F-4D97-AF65-F5344CB8AC3E}">
        <p14:creationId xmlns:p14="http://schemas.microsoft.com/office/powerpoint/2010/main" val="28638324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ahoma" panose="020B0604030504040204" pitchFamily="34" charset="0"/>
              </a:rPr>
              <a:t>TIMING: 4:20-5:05 / 45 seconds</a:t>
            </a:r>
          </a:p>
          <a:p>
            <a:r>
              <a:rPr lang="en-US">
                <a:latin typeface="Tahoma" panose="020B0604030504040204" pitchFamily="34" charset="0"/>
              </a:rPr>
              <a:t>DELIVERY: Arabic. Slides: English. Main pitch ends on slide 8.</a:t>
            </a:r>
          </a:p>
          <a:p>
            <a:endParaRPr lang="en-US">
              <a:latin typeface="Tahoma" panose="020B0604030504040204" pitchFamily="34" charset="0"/>
            </a:endParaRPr>
          </a:p>
          <a:p>
            <a:r>
              <a:rPr lang="en-US">
                <a:latin typeface="Tahoma" panose="020B0604030504040204" pitchFamily="34" charset="0"/>
              </a:rPr>
              <a:t>### 6 — </a:t>
            </a:r>
            <a:r>
              <a:rPr lang="ar-JO">
                <a:latin typeface="Tahoma" panose="020B0604030504040204" pitchFamily="34" charset="0"/>
              </a:rPr>
              <a:t>التنفيذ والثقة، 45 ثانية
«الموقع وتطبيق أندرويد يستخدمان نفس منطق </a:t>
            </a:r>
            <a:r>
              <a:rPr lang="en-US">
                <a:latin typeface="Tahoma" panose="020B0604030504040204" pitchFamily="34" charset="0"/>
              </a:rPr>
              <a:t>Laravel </a:t>
            </a:r>
            <a:r>
              <a:rPr lang="ar-JO">
                <a:latin typeface="Tahoma" panose="020B0604030504040204" pitchFamily="34" charset="0"/>
              </a:rPr>
              <a:t>ونفس قاعدة البيانات؛ لم نكتب نسخة ثانية من قواعد البلاغات. قاعدة الهوية التجريبية منفصلة. الطوابير تعالج التحليل والإشعارات والتسليم المحاكى. سطح أندرويد يمنع الإدارة من الخادم، وليس بمجرد إخفاء الرابط. لدينا 301 اختباراً ناجحاً و1,833 تحققاً، تغطي الوصول والهوية والنسخ القديمة والمرفقات والفرز. وجرى بناء </a:t>
            </a:r>
            <a:r>
              <a:rPr lang="en-US">
                <a:latin typeface="Tahoma" panose="020B0604030504040204" pitchFamily="34" charset="0"/>
              </a:rPr>
              <a:t>APK </a:t>
            </a:r>
            <a:r>
              <a:rPr lang="ar-JO">
                <a:latin typeface="Tahoma" panose="020B0604030504040204" pitchFamily="34" charset="0"/>
              </a:rPr>
              <a:t>موقّع. هذه أدلة تنفيذ، وليست شهادة أمان أو دقة ذكاء اصطناعي أو اختبار جهاز فعلي.»
لا تدخل في شرح كل جدول. عند السؤال فقط، افتح ملحق ما يعمل وما هو محاكاة.
</a:t>
            </a:r>
            <a:endParaRPr lang="en-US">
              <a:latin typeface="Tahoma" panose="020B0604030504040204" pitchFamily="34" charset="0"/>
            </a:endParaRPr>
          </a:p>
        </p:txBody>
      </p:sp>
      <p:sp>
        <p:nvSpPr>
          <p:cNvPr id="4" name="Slide Number Placeholder 3"/>
          <p:cNvSpPr>
            <a:spLocks noGrp="1"/>
          </p:cNvSpPr>
          <p:nvPr>
            <p:ph type="sldNum" sz="quarter" idx="5"/>
          </p:nvPr>
        </p:nvSpPr>
        <p:spPr/>
        <p:txBody>
          <a:bodyPr/>
          <a:lstStyle/>
          <a:p>
            <a:fld id="{D184683E-ADEB-4080-8E99-FC9D96C5E405}" type="slidenum">
              <a:rPr lang="en-US" smtClean="0"/>
              <a:t>6</a:t>
            </a:fld>
            <a:endParaRPr lang="en-US"/>
          </a:p>
        </p:txBody>
      </p:sp>
    </p:spTree>
    <p:extLst>
      <p:ext uri="{BB962C8B-B14F-4D97-AF65-F5344CB8AC3E}">
        <p14:creationId xmlns:p14="http://schemas.microsoft.com/office/powerpoint/2010/main" val="24325966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ahoma" panose="020B0604030504040204" pitchFamily="34" charset="0"/>
              </a:rPr>
              <a:t>TIMING: 5:05-5:50 / 45 seconds</a:t>
            </a:r>
          </a:p>
          <a:p>
            <a:r>
              <a:rPr lang="en-US">
                <a:latin typeface="Tahoma" panose="020B0604030504040204" pitchFamily="34" charset="0"/>
              </a:rPr>
              <a:t>DELIVERY: Arabic. Slides: English. Main pitch ends on slide 8.</a:t>
            </a:r>
          </a:p>
          <a:p>
            <a:endParaRPr lang="en-US">
              <a:latin typeface="Tahoma" panose="020B0604030504040204" pitchFamily="34" charset="0"/>
            </a:endParaRPr>
          </a:p>
          <a:p>
            <a:r>
              <a:rPr lang="en-US">
                <a:latin typeface="Tahoma" panose="020B0604030504040204" pitchFamily="34" charset="0"/>
              </a:rPr>
              <a:t>### 7 — </a:t>
            </a:r>
            <a:r>
              <a:rPr lang="ar-JO">
                <a:latin typeface="Tahoma" panose="020B0604030504040204" pitchFamily="34" charset="0"/>
              </a:rPr>
              <a:t>الجدوى، 45 ثانية
«نقترح البدء مع فريق مراجعة واحد وفي نطاق بلدي محدود، وليس نشر النظام في الأردن كله فوراً. يبقى الاستخدام مجانياً للمواطن، بينما نموذج التمويل المقترح ترخيص أو عقد خدمة للجهة المشغّلة مع تكلفة إعداد واضحة. لا توجد عقود أو إيرادات حالياً. سنقيس زمن المراجعة واكتمال البلاغ وعدد مرات طلب التوضيح والتكلفة لكل حالة. تكلفة الذكاء الاصطناعي ليست التكلفة الوحيدة؛ التشغيل والرسائل والمراجعة والدعم والخصوصية مهمة أيضاً. نتوسع فقط عندما تكون بيانات الاختصاص والتكلفة والتشغيل موثقة.»
ستة أسابيع و100 حالة تقييم أرقام خطة مقترحة، وليست مستخدمين حاليين أو طلبات رسمية متفقاً عليها. لا تعد بزمن إصلاح أو وفر مالي لم يُقَس.
</a:t>
            </a:r>
            <a:endParaRPr lang="en-US">
              <a:latin typeface="Tahoma" panose="020B0604030504040204" pitchFamily="34" charset="0"/>
            </a:endParaRPr>
          </a:p>
        </p:txBody>
      </p:sp>
      <p:sp>
        <p:nvSpPr>
          <p:cNvPr id="4" name="Slide Number Placeholder 3"/>
          <p:cNvSpPr>
            <a:spLocks noGrp="1"/>
          </p:cNvSpPr>
          <p:nvPr>
            <p:ph type="sldNum" sz="quarter" idx="5"/>
          </p:nvPr>
        </p:nvSpPr>
        <p:spPr/>
        <p:txBody>
          <a:bodyPr/>
          <a:lstStyle/>
          <a:p>
            <a:fld id="{D184683E-ADEB-4080-8E99-FC9D96C5E405}" type="slidenum">
              <a:rPr lang="en-US" smtClean="0"/>
              <a:t>7</a:t>
            </a:fld>
            <a:endParaRPr lang="en-US"/>
          </a:p>
        </p:txBody>
      </p:sp>
    </p:spTree>
    <p:extLst>
      <p:ext uri="{BB962C8B-B14F-4D97-AF65-F5344CB8AC3E}">
        <p14:creationId xmlns:p14="http://schemas.microsoft.com/office/powerpoint/2010/main" val="25502206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ahoma" panose="020B0604030504040204" pitchFamily="34" charset="0"/>
              </a:rPr>
              <a:t>TIMING: 5:50-6:30 / 40 seconds; reserve 30 seconds before 7:00 cutoff</a:t>
            </a:r>
          </a:p>
          <a:p>
            <a:r>
              <a:rPr lang="en-US">
                <a:latin typeface="Tahoma" panose="020B0604030504040204" pitchFamily="34" charset="0"/>
              </a:rPr>
              <a:t>DELIVERY: Arabic. Slides: English. Main pitch ends on slide 8.</a:t>
            </a:r>
          </a:p>
          <a:p>
            <a:endParaRPr lang="en-US">
              <a:latin typeface="Tahoma" panose="020B0604030504040204" pitchFamily="34" charset="0"/>
            </a:endParaRPr>
          </a:p>
          <a:p>
            <a:r>
              <a:rPr lang="en-US">
                <a:latin typeface="Tahoma" panose="020B0604030504040204" pitchFamily="34" charset="0"/>
              </a:rPr>
              <a:t>### 8 — </a:t>
            </a:r>
            <a:r>
              <a:rPr lang="ar-JO">
                <a:latin typeface="Tahoma" panose="020B0604030504040204" pitchFamily="34" charset="0"/>
              </a:rPr>
              <a:t>الخطوة التالية، 40 ثانية
«النسخة الحالية تثبت رحلة البلاغ، والفرز والمراجعة، لكنها لا تدّعي اتصالاً رسمياً بالهوية أو الرسائل أو البلدية. الخطوة التالية شريك تجريبي واحد، ومجموعة تقييم عربية وإنجليزية، ومراجعة قانونية وخصوصية، ثم ربط معتمد. طلبنا اليوم دعم تجربة محدودة يقودها مراجعون مسؤولون، وقياس هل تصبح البلاغات أوضح وأسهل في التعامل. مشكلتي: من مشكلة في الحي إلى خطوة تالية واضحة. شكراً، ونحن جاهزون لأسئلتكم.»
توقف عند 6:30 إن أمكن. لا تضف قائمة ميزات في النهاية.
</a:t>
            </a:r>
            <a:endParaRPr lang="en-US">
              <a:latin typeface="Tahoma" panose="020B0604030504040204" pitchFamily="34" charset="0"/>
            </a:endParaRPr>
          </a:p>
        </p:txBody>
      </p:sp>
      <p:sp>
        <p:nvSpPr>
          <p:cNvPr id="4" name="Slide Number Placeholder 3"/>
          <p:cNvSpPr>
            <a:spLocks noGrp="1"/>
          </p:cNvSpPr>
          <p:nvPr>
            <p:ph type="sldNum" sz="quarter" idx="5"/>
          </p:nvPr>
        </p:nvSpPr>
        <p:spPr/>
        <p:txBody>
          <a:bodyPr/>
          <a:lstStyle/>
          <a:p>
            <a:fld id="{D184683E-ADEB-4080-8E99-FC9D96C5E405}" type="slidenum">
              <a:rPr lang="en-US" smtClean="0"/>
              <a:t>8</a:t>
            </a:fld>
            <a:endParaRPr lang="en-US"/>
          </a:p>
        </p:txBody>
      </p:sp>
    </p:spTree>
    <p:extLst>
      <p:ext uri="{BB962C8B-B14F-4D97-AF65-F5344CB8AC3E}">
        <p14:creationId xmlns:p14="http://schemas.microsoft.com/office/powerpoint/2010/main" val="28938855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 hidden from the main sequence. </a:t>
            </a:r>
            <a:r>
              <a:rPr lang="ar-JO"/>
              <a:t>بيّن أن التدفق منفذ، لكن التحقق الحكومي والرسائل والتسليم ليست اتصالات رسمية. القبول ليس إصلاح الطريق. </a:t>
            </a:r>
            <a:r>
              <a:rPr lang="en-US"/>
              <a:t>Sources: README.md, docs/ANDROID_PILOT.md, app services and jobs.</a:t>
            </a:r>
          </a:p>
        </p:txBody>
      </p:sp>
      <p:sp>
        <p:nvSpPr>
          <p:cNvPr id="4" name="Slide Number Placeholder 3"/>
          <p:cNvSpPr>
            <a:spLocks noGrp="1"/>
          </p:cNvSpPr>
          <p:nvPr>
            <p:ph type="sldNum" sz="quarter" idx="5"/>
          </p:nvPr>
        </p:nvSpPr>
        <p:spPr/>
        <p:txBody>
          <a:bodyPr/>
          <a:lstStyle/>
          <a:p>
            <a:fld id="{D184683E-ADEB-4080-8E99-FC9D96C5E405}" type="slidenum">
              <a:rPr lang="en-US" smtClean="0"/>
              <a:t>9</a:t>
            </a:fld>
            <a:endParaRPr lang="en-US"/>
          </a:p>
        </p:txBody>
      </p:sp>
    </p:spTree>
    <p:extLst>
      <p:ext uri="{BB962C8B-B14F-4D97-AF65-F5344CB8AC3E}">
        <p14:creationId xmlns:p14="http://schemas.microsoft.com/office/powerpoint/2010/main" val="12825378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 hidden from the main sequence. </a:t>
            </a:r>
            <a:r>
              <a:rPr lang="ar-JO"/>
              <a:t>لا تدّع أن خصائص المنافس غائبة أو أن مشكلتي أول نظام من نوعه. المصدر يثبت ما يعلنه تطبيق الأمانة فقط. </a:t>
            </a:r>
            <a:r>
              <a:rPr lang="en-US"/>
              <a:t>https://play.google.com/store/apps/details?id=com.gam.ammanislistening ; https://www.amman.jo/ar/eservices/Complaintcallcenter.aspx ; https://www.modee.gov.jo/EN/Pages/Services</a:t>
            </a:r>
          </a:p>
        </p:txBody>
      </p:sp>
      <p:sp>
        <p:nvSpPr>
          <p:cNvPr id="4" name="Slide Number Placeholder 3"/>
          <p:cNvSpPr>
            <a:spLocks noGrp="1"/>
          </p:cNvSpPr>
          <p:nvPr>
            <p:ph type="sldNum" sz="quarter" idx="5"/>
          </p:nvPr>
        </p:nvSpPr>
        <p:spPr/>
        <p:txBody>
          <a:bodyPr/>
          <a:lstStyle/>
          <a:p>
            <a:fld id="{D184683E-ADEB-4080-8E99-FC9D96C5E405}" type="slidenum">
              <a:rPr lang="en-US" smtClean="0"/>
              <a:t>10</a:t>
            </a:fld>
            <a:endParaRPr lang="en-US"/>
          </a:p>
        </p:txBody>
      </p:sp>
    </p:spTree>
    <p:extLst>
      <p:ext uri="{BB962C8B-B14F-4D97-AF65-F5344CB8AC3E}">
        <p14:creationId xmlns:p14="http://schemas.microsoft.com/office/powerpoint/2010/main" val="19321793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 hidden from the main sequence. </a:t>
            </a:r>
            <a:r>
              <a:rPr lang="ar-JO"/>
              <a:t>هذه خطة تقييم، وليست تجربة أجريناها أو نتيجة ناجحة. حجم 100 وتوزيع اللغة أهداف مقترحة. اختبار برنامج </a:t>
            </a:r>
            <a:r>
              <a:rPr lang="en-US"/>
              <a:t>Laravel </a:t>
            </a:r>
            <a:r>
              <a:rPr lang="ar-JO"/>
              <a:t>لا يثبت دقة النموذج أو أثره على أعمال البلدية.</a:t>
            </a:r>
            <a:endParaRPr lang="en-US"/>
          </a:p>
        </p:txBody>
      </p:sp>
      <p:sp>
        <p:nvSpPr>
          <p:cNvPr id="4" name="Slide Number Placeholder 3"/>
          <p:cNvSpPr>
            <a:spLocks noGrp="1"/>
          </p:cNvSpPr>
          <p:nvPr>
            <p:ph type="sldNum" sz="quarter" idx="5"/>
          </p:nvPr>
        </p:nvSpPr>
        <p:spPr/>
        <p:txBody>
          <a:bodyPr/>
          <a:lstStyle/>
          <a:p>
            <a:fld id="{D184683E-ADEB-4080-8E99-FC9D96C5E405}" type="slidenum">
              <a:rPr lang="en-US" smtClean="0"/>
              <a:t>11</a:t>
            </a:fld>
            <a:endParaRPr lang="en-US"/>
          </a:p>
        </p:txBody>
      </p:sp>
    </p:spTree>
    <p:extLst>
      <p:ext uri="{BB962C8B-B14F-4D97-AF65-F5344CB8AC3E}">
        <p14:creationId xmlns:p14="http://schemas.microsoft.com/office/powerpoint/2010/main" val="1678104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 hidden from the main sequence. </a:t>
            </a:r>
            <a:r>
              <a:rPr lang="ar-JO"/>
              <a:t>العميل المؤسسي المقترح يدفع؛ المواطن لا يدفع. لا يوجد سعر مثبت. سقف الاستدعاءات اليومي لا يساوي سقف فاتورة نقدياً. أضف تكاليف الاستضافة والرسائل والتخزين والدعم والمراجعة. احتسب تكلفة كل حالة بما في ذلك الفشل والاستيضاح، لا الاستدعاءات الناجحة فقط.</a:t>
            </a:r>
            <a:endParaRPr lang="en-US"/>
          </a:p>
        </p:txBody>
      </p:sp>
      <p:sp>
        <p:nvSpPr>
          <p:cNvPr id="4" name="Slide Number Placeholder 3"/>
          <p:cNvSpPr>
            <a:spLocks noGrp="1"/>
          </p:cNvSpPr>
          <p:nvPr>
            <p:ph type="sldNum" sz="quarter" idx="5"/>
          </p:nvPr>
        </p:nvSpPr>
        <p:spPr/>
        <p:txBody>
          <a:bodyPr/>
          <a:lstStyle/>
          <a:p>
            <a:fld id="{D184683E-ADEB-4080-8E99-FC9D96C5E405}" type="slidenum">
              <a:rPr lang="en-US" smtClean="0"/>
              <a:t>12</a:t>
            </a:fld>
            <a:endParaRPr lang="en-US"/>
          </a:p>
        </p:txBody>
      </p:sp>
    </p:spTree>
    <p:extLst>
      <p:ext uri="{BB962C8B-B14F-4D97-AF65-F5344CB8AC3E}">
        <p14:creationId xmlns:p14="http://schemas.microsoft.com/office/powerpoint/2010/main" val="32600809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 hidden from the main sequence. </a:t>
            </a:r>
            <a:r>
              <a:rPr lang="ar-JO"/>
              <a:t>الحدود متعددة لكنها ليست ضماناً ضد كل حقن تعليمات أو كل ثغرة. التشفير لبعض حقول قاعدة البيانات لا يعني تشفير كل ملف أو كل نسخة احتياطية. طلبات الخصوصية تسجل للمراجعة، وليست تنفيذاً قانونياً تلقائياً. المصادر: </a:t>
            </a:r>
            <a:r>
              <a:rPr lang="en-US"/>
              <a:t>docs/SECURITY.md </a:t>
            </a:r>
            <a:r>
              <a:rPr lang="ar-JO"/>
              <a:t>و</a:t>
            </a:r>
            <a:r>
              <a:rPr lang="en-US"/>
              <a:t>README.md.</a:t>
            </a:r>
          </a:p>
        </p:txBody>
      </p:sp>
      <p:sp>
        <p:nvSpPr>
          <p:cNvPr id="4" name="Slide Number Placeholder 3"/>
          <p:cNvSpPr>
            <a:spLocks noGrp="1"/>
          </p:cNvSpPr>
          <p:nvPr>
            <p:ph type="sldNum" sz="quarter" idx="5"/>
          </p:nvPr>
        </p:nvSpPr>
        <p:spPr/>
        <p:txBody>
          <a:bodyPr/>
          <a:lstStyle/>
          <a:p>
            <a:fld id="{D184683E-ADEB-4080-8E99-FC9D96C5E405}" type="slidenum">
              <a:rPr lang="en-US" smtClean="0"/>
              <a:t>13</a:t>
            </a:fld>
            <a:endParaRPr lang="en-US"/>
          </a:p>
        </p:txBody>
      </p:sp>
    </p:spTree>
    <p:extLst>
      <p:ext uri="{BB962C8B-B14F-4D97-AF65-F5344CB8AC3E}">
        <p14:creationId xmlns:p14="http://schemas.microsoft.com/office/powerpoint/2010/main" val="53922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Q&amp;A ONLY - hidden from the main sequence. </a:t>
            </a:r>
            <a:r>
              <a:rPr lang="ar-JO"/>
              <a:t>يمكن الضغط على العناوين لفتح المصادر. الروابط الخاصة تحتاج وصولاً للحكام. المصدر المحلي هو أساس الادعاءات؛ لا تفترض أن أحدث تغييرات سطح أندرويد مرفوعة في مستودع </a:t>
            </a:r>
            <a:r>
              <a:rPr lang="en-US"/>
              <a:t>Laravel </a:t>
            </a:r>
            <a:r>
              <a:rPr lang="ar-JO"/>
              <a:t>الرئيسي. قيّم التسليم الفعلي ولا تعتبر مربعات المتصفح إثبات إرسال. مصادر إضافية: </a:t>
            </a:r>
            <a:r>
              <a:rPr lang="en-US"/>
              <a:t>https://www.modee.gov.jo/EN/Pages/Services ; https://www.amman.jo/ar/eservices/Complaintcallcenter.aspx. </a:t>
            </a:r>
            <a:r>
              <a:rPr lang="ar-JO"/>
              <a:t>تاريخ التوثيق 10 أكتوبر 2026.</a:t>
            </a:r>
            <a:endParaRPr lang="en-US"/>
          </a:p>
        </p:txBody>
      </p:sp>
      <p:sp>
        <p:nvSpPr>
          <p:cNvPr id="4" name="Slide Number Placeholder 3"/>
          <p:cNvSpPr>
            <a:spLocks noGrp="1"/>
          </p:cNvSpPr>
          <p:nvPr>
            <p:ph type="sldNum" sz="quarter" idx="5"/>
          </p:nvPr>
        </p:nvSpPr>
        <p:spPr/>
        <p:txBody>
          <a:bodyPr/>
          <a:lstStyle/>
          <a:p>
            <a:fld id="{D184683E-ADEB-4080-8E99-FC9D96C5E405}" type="slidenum">
              <a:rPr lang="en-US" smtClean="0"/>
              <a:t>14</a:t>
            </a:fld>
            <a:endParaRPr lang="en-US"/>
          </a:p>
        </p:txBody>
      </p:sp>
    </p:spTree>
    <p:extLst>
      <p:ext uri="{BB962C8B-B14F-4D97-AF65-F5344CB8AC3E}">
        <p14:creationId xmlns:p14="http://schemas.microsoft.com/office/powerpoint/2010/main" val="17905710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25148F-30B4-6910-31D6-08E90006F1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F90E32-D9D0-2B42-C9F6-1F1A8301C6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3C277A4-4A09-C570-7D36-539F0478F181}"/>
              </a:ext>
            </a:extLst>
          </p:cNvPr>
          <p:cNvSpPr>
            <a:spLocks noGrp="1"/>
          </p:cNvSpPr>
          <p:nvPr>
            <p:ph type="dt" sz="half" idx="10"/>
          </p:nvPr>
        </p:nvSpPr>
        <p:spPr/>
        <p:txBody>
          <a:bodyPr/>
          <a:lstStyle/>
          <a:p>
            <a:fld id="{52294CE9-D24F-43BD-A133-3CD69A9BFD2C}" type="datetimeFigureOut">
              <a:rPr lang="en-US" smtClean="0"/>
              <a:t>10/10/2026</a:t>
            </a:fld>
            <a:endParaRPr lang="en-US"/>
          </a:p>
        </p:txBody>
      </p:sp>
      <p:sp>
        <p:nvSpPr>
          <p:cNvPr id="5" name="Footer Placeholder 4">
            <a:extLst>
              <a:ext uri="{FF2B5EF4-FFF2-40B4-BE49-F238E27FC236}">
                <a16:creationId xmlns:a16="http://schemas.microsoft.com/office/drawing/2014/main" id="{3D4A41CE-BE30-49E0-F6F5-7B1B1A52539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91BF62-0D71-735C-0FB5-EF937EA84943}"/>
              </a:ext>
            </a:extLst>
          </p:cNvPr>
          <p:cNvSpPr>
            <a:spLocks noGrp="1"/>
          </p:cNvSpPr>
          <p:nvPr>
            <p:ph type="sldNum" sz="quarter" idx="12"/>
          </p:nvPr>
        </p:nvSpPr>
        <p:spPr/>
        <p:txBody>
          <a:bodyPr/>
          <a:lstStyle/>
          <a:p>
            <a:fld id="{D500ED91-FA3C-4A72-84B0-A8ED419EE67B}" type="slidenum">
              <a:rPr lang="en-US" smtClean="0"/>
              <a:t>‹#›</a:t>
            </a:fld>
            <a:endParaRPr lang="en-US"/>
          </a:p>
        </p:txBody>
      </p:sp>
    </p:spTree>
    <p:extLst>
      <p:ext uri="{BB962C8B-B14F-4D97-AF65-F5344CB8AC3E}">
        <p14:creationId xmlns:p14="http://schemas.microsoft.com/office/powerpoint/2010/main" val="26365864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938B8-76F0-6E49-7629-3671C65281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4DCC2CB-5819-B2E6-B38F-5786767201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F3911B-8E48-5F5E-C7FE-5AAF78FF7953}"/>
              </a:ext>
            </a:extLst>
          </p:cNvPr>
          <p:cNvSpPr>
            <a:spLocks noGrp="1"/>
          </p:cNvSpPr>
          <p:nvPr>
            <p:ph type="dt" sz="half" idx="10"/>
          </p:nvPr>
        </p:nvSpPr>
        <p:spPr/>
        <p:txBody>
          <a:bodyPr/>
          <a:lstStyle/>
          <a:p>
            <a:fld id="{52294CE9-D24F-43BD-A133-3CD69A9BFD2C}" type="datetimeFigureOut">
              <a:rPr lang="en-US" smtClean="0"/>
              <a:t>10/10/2026</a:t>
            </a:fld>
            <a:endParaRPr lang="en-US"/>
          </a:p>
        </p:txBody>
      </p:sp>
      <p:sp>
        <p:nvSpPr>
          <p:cNvPr id="5" name="Footer Placeholder 4">
            <a:extLst>
              <a:ext uri="{FF2B5EF4-FFF2-40B4-BE49-F238E27FC236}">
                <a16:creationId xmlns:a16="http://schemas.microsoft.com/office/drawing/2014/main" id="{35A3489A-59EC-E5A6-3BAD-02AAE58CB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D0AC5-2127-4C2B-3550-43D1D0728855}"/>
              </a:ext>
            </a:extLst>
          </p:cNvPr>
          <p:cNvSpPr>
            <a:spLocks noGrp="1"/>
          </p:cNvSpPr>
          <p:nvPr>
            <p:ph type="sldNum" sz="quarter" idx="12"/>
          </p:nvPr>
        </p:nvSpPr>
        <p:spPr/>
        <p:txBody>
          <a:bodyPr/>
          <a:lstStyle/>
          <a:p>
            <a:fld id="{D500ED91-FA3C-4A72-84B0-A8ED419EE67B}" type="slidenum">
              <a:rPr lang="en-US" smtClean="0"/>
              <a:t>‹#›</a:t>
            </a:fld>
            <a:endParaRPr lang="en-US"/>
          </a:p>
        </p:txBody>
      </p:sp>
    </p:spTree>
    <p:extLst>
      <p:ext uri="{BB962C8B-B14F-4D97-AF65-F5344CB8AC3E}">
        <p14:creationId xmlns:p14="http://schemas.microsoft.com/office/powerpoint/2010/main" val="184679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3270E-61AE-5D42-2C15-48CBDAC988B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EC756B3-AFEE-5B79-B572-1FCE59A2B61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7ACD7A2-4B06-8A6F-ED82-4F539AE56454}"/>
              </a:ext>
            </a:extLst>
          </p:cNvPr>
          <p:cNvSpPr>
            <a:spLocks noGrp="1"/>
          </p:cNvSpPr>
          <p:nvPr>
            <p:ph type="dt" sz="half" idx="10"/>
          </p:nvPr>
        </p:nvSpPr>
        <p:spPr/>
        <p:txBody>
          <a:bodyPr/>
          <a:lstStyle/>
          <a:p>
            <a:fld id="{52294CE9-D24F-43BD-A133-3CD69A9BFD2C}" type="datetimeFigureOut">
              <a:rPr lang="en-US" smtClean="0"/>
              <a:t>10/10/2026</a:t>
            </a:fld>
            <a:endParaRPr lang="en-US"/>
          </a:p>
        </p:txBody>
      </p:sp>
      <p:sp>
        <p:nvSpPr>
          <p:cNvPr id="5" name="Footer Placeholder 4">
            <a:extLst>
              <a:ext uri="{FF2B5EF4-FFF2-40B4-BE49-F238E27FC236}">
                <a16:creationId xmlns:a16="http://schemas.microsoft.com/office/drawing/2014/main" id="{34CBED91-F32A-6C8B-0172-1E0E0C43E8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235792E-94D1-E7E0-E072-8396481FC6F4}"/>
              </a:ext>
            </a:extLst>
          </p:cNvPr>
          <p:cNvSpPr>
            <a:spLocks noGrp="1"/>
          </p:cNvSpPr>
          <p:nvPr>
            <p:ph type="sldNum" sz="quarter" idx="12"/>
          </p:nvPr>
        </p:nvSpPr>
        <p:spPr/>
        <p:txBody>
          <a:bodyPr/>
          <a:lstStyle/>
          <a:p>
            <a:fld id="{D500ED91-FA3C-4A72-84B0-A8ED419EE67B}" type="slidenum">
              <a:rPr lang="en-US" smtClean="0"/>
              <a:t>‹#›</a:t>
            </a:fld>
            <a:endParaRPr lang="en-US"/>
          </a:p>
        </p:txBody>
      </p:sp>
    </p:spTree>
    <p:extLst>
      <p:ext uri="{BB962C8B-B14F-4D97-AF65-F5344CB8AC3E}">
        <p14:creationId xmlns:p14="http://schemas.microsoft.com/office/powerpoint/2010/main" val="3531459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02440-E554-9B27-FF87-0BF9DDCFCC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00ADA4-F68D-0578-829A-9E28A77062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72DE610-3C66-93C6-A64B-5CE1E4E092C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CAEBADC-677B-245F-49FC-F6167A319D51}"/>
              </a:ext>
            </a:extLst>
          </p:cNvPr>
          <p:cNvSpPr>
            <a:spLocks noGrp="1"/>
          </p:cNvSpPr>
          <p:nvPr>
            <p:ph type="dt" sz="half" idx="10"/>
          </p:nvPr>
        </p:nvSpPr>
        <p:spPr/>
        <p:txBody>
          <a:bodyPr/>
          <a:lstStyle/>
          <a:p>
            <a:fld id="{52294CE9-D24F-43BD-A133-3CD69A9BFD2C}" type="datetimeFigureOut">
              <a:rPr lang="en-US" smtClean="0"/>
              <a:t>10/10/2026</a:t>
            </a:fld>
            <a:endParaRPr lang="en-US"/>
          </a:p>
        </p:txBody>
      </p:sp>
      <p:sp>
        <p:nvSpPr>
          <p:cNvPr id="6" name="Footer Placeholder 5">
            <a:extLst>
              <a:ext uri="{FF2B5EF4-FFF2-40B4-BE49-F238E27FC236}">
                <a16:creationId xmlns:a16="http://schemas.microsoft.com/office/drawing/2014/main" id="{3AF61302-3506-F0A0-5138-410F37DB44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6650457-B39A-AF7A-4009-0B647E3508AA}"/>
              </a:ext>
            </a:extLst>
          </p:cNvPr>
          <p:cNvSpPr>
            <a:spLocks noGrp="1"/>
          </p:cNvSpPr>
          <p:nvPr>
            <p:ph type="sldNum" sz="quarter" idx="12"/>
          </p:nvPr>
        </p:nvSpPr>
        <p:spPr/>
        <p:txBody>
          <a:bodyPr/>
          <a:lstStyle/>
          <a:p>
            <a:fld id="{D500ED91-FA3C-4A72-84B0-A8ED419EE67B}" type="slidenum">
              <a:rPr lang="en-US" smtClean="0"/>
              <a:t>‹#›</a:t>
            </a:fld>
            <a:endParaRPr lang="en-US"/>
          </a:p>
        </p:txBody>
      </p:sp>
    </p:spTree>
    <p:extLst>
      <p:ext uri="{BB962C8B-B14F-4D97-AF65-F5344CB8AC3E}">
        <p14:creationId xmlns:p14="http://schemas.microsoft.com/office/powerpoint/2010/main" val="3019578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03D01-CF15-58F3-6569-56BFA312F30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DB1FFDA-91D8-CED3-6616-1951492226F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E35D1B-4296-21D6-3A9A-11A9A3ED6C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5563068-084E-95AA-D852-4D526B23786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B0D1ADE-312A-A8D8-8404-3F1D09D96BE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B1AAE6-DD82-E194-D2F7-07323D82CD5B}"/>
              </a:ext>
            </a:extLst>
          </p:cNvPr>
          <p:cNvSpPr>
            <a:spLocks noGrp="1"/>
          </p:cNvSpPr>
          <p:nvPr>
            <p:ph type="dt" sz="half" idx="10"/>
          </p:nvPr>
        </p:nvSpPr>
        <p:spPr/>
        <p:txBody>
          <a:bodyPr/>
          <a:lstStyle/>
          <a:p>
            <a:fld id="{52294CE9-D24F-43BD-A133-3CD69A9BFD2C}" type="datetimeFigureOut">
              <a:rPr lang="en-US" smtClean="0"/>
              <a:t>10/10/2026</a:t>
            </a:fld>
            <a:endParaRPr lang="en-US"/>
          </a:p>
        </p:txBody>
      </p:sp>
      <p:sp>
        <p:nvSpPr>
          <p:cNvPr id="8" name="Footer Placeholder 7">
            <a:extLst>
              <a:ext uri="{FF2B5EF4-FFF2-40B4-BE49-F238E27FC236}">
                <a16:creationId xmlns:a16="http://schemas.microsoft.com/office/drawing/2014/main" id="{7CB98E85-E9F1-23CC-C346-A7C253B1150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A664FE0-3510-4C02-B424-6627F264FE3E}"/>
              </a:ext>
            </a:extLst>
          </p:cNvPr>
          <p:cNvSpPr>
            <a:spLocks noGrp="1"/>
          </p:cNvSpPr>
          <p:nvPr>
            <p:ph type="sldNum" sz="quarter" idx="12"/>
          </p:nvPr>
        </p:nvSpPr>
        <p:spPr/>
        <p:txBody>
          <a:bodyPr/>
          <a:lstStyle/>
          <a:p>
            <a:fld id="{D500ED91-FA3C-4A72-84B0-A8ED419EE67B}" type="slidenum">
              <a:rPr lang="en-US" smtClean="0"/>
              <a:t>‹#›</a:t>
            </a:fld>
            <a:endParaRPr lang="en-US"/>
          </a:p>
        </p:txBody>
      </p:sp>
    </p:spTree>
    <p:extLst>
      <p:ext uri="{BB962C8B-B14F-4D97-AF65-F5344CB8AC3E}">
        <p14:creationId xmlns:p14="http://schemas.microsoft.com/office/powerpoint/2010/main" val="2597911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10E28-D481-5280-EB1C-EB1A80AAD23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FBD20BD-8089-FD95-4D84-4AC7EC372C88}"/>
              </a:ext>
            </a:extLst>
          </p:cNvPr>
          <p:cNvSpPr>
            <a:spLocks noGrp="1"/>
          </p:cNvSpPr>
          <p:nvPr>
            <p:ph type="dt" sz="half" idx="10"/>
          </p:nvPr>
        </p:nvSpPr>
        <p:spPr/>
        <p:txBody>
          <a:bodyPr/>
          <a:lstStyle/>
          <a:p>
            <a:fld id="{52294CE9-D24F-43BD-A133-3CD69A9BFD2C}" type="datetimeFigureOut">
              <a:rPr lang="en-US" smtClean="0"/>
              <a:t>10/10/2026</a:t>
            </a:fld>
            <a:endParaRPr lang="en-US"/>
          </a:p>
        </p:txBody>
      </p:sp>
      <p:sp>
        <p:nvSpPr>
          <p:cNvPr id="4" name="Footer Placeholder 3">
            <a:extLst>
              <a:ext uri="{FF2B5EF4-FFF2-40B4-BE49-F238E27FC236}">
                <a16:creationId xmlns:a16="http://schemas.microsoft.com/office/drawing/2014/main" id="{9AB30987-AF2E-00C5-E419-CEE36C4D747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64D5E28-8D2B-03D9-1A31-51D9EFF04769}"/>
              </a:ext>
            </a:extLst>
          </p:cNvPr>
          <p:cNvSpPr>
            <a:spLocks noGrp="1"/>
          </p:cNvSpPr>
          <p:nvPr>
            <p:ph type="sldNum" sz="quarter" idx="12"/>
          </p:nvPr>
        </p:nvSpPr>
        <p:spPr/>
        <p:txBody>
          <a:bodyPr/>
          <a:lstStyle/>
          <a:p>
            <a:fld id="{D500ED91-FA3C-4A72-84B0-A8ED419EE67B}" type="slidenum">
              <a:rPr lang="en-US" smtClean="0"/>
              <a:t>‹#›</a:t>
            </a:fld>
            <a:endParaRPr lang="en-US"/>
          </a:p>
        </p:txBody>
      </p:sp>
    </p:spTree>
    <p:extLst>
      <p:ext uri="{BB962C8B-B14F-4D97-AF65-F5344CB8AC3E}">
        <p14:creationId xmlns:p14="http://schemas.microsoft.com/office/powerpoint/2010/main" val="3383609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32F60B7-6FE6-E99D-900E-3CFB77A46B4D}"/>
              </a:ext>
            </a:extLst>
          </p:cNvPr>
          <p:cNvSpPr>
            <a:spLocks noGrp="1"/>
          </p:cNvSpPr>
          <p:nvPr>
            <p:ph type="dt" sz="half" idx="10"/>
          </p:nvPr>
        </p:nvSpPr>
        <p:spPr/>
        <p:txBody>
          <a:bodyPr/>
          <a:lstStyle/>
          <a:p>
            <a:fld id="{52294CE9-D24F-43BD-A133-3CD69A9BFD2C}" type="datetimeFigureOut">
              <a:rPr lang="en-US" smtClean="0"/>
              <a:t>10/10/2026</a:t>
            </a:fld>
            <a:endParaRPr lang="en-US"/>
          </a:p>
        </p:txBody>
      </p:sp>
      <p:sp>
        <p:nvSpPr>
          <p:cNvPr id="3" name="Footer Placeholder 2">
            <a:extLst>
              <a:ext uri="{FF2B5EF4-FFF2-40B4-BE49-F238E27FC236}">
                <a16:creationId xmlns:a16="http://schemas.microsoft.com/office/drawing/2014/main" id="{546E1DA1-0FA2-0D80-8233-B4D350458F9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15A2AD1-E379-4224-2ACA-E2A292CABE26}"/>
              </a:ext>
            </a:extLst>
          </p:cNvPr>
          <p:cNvSpPr>
            <a:spLocks noGrp="1"/>
          </p:cNvSpPr>
          <p:nvPr>
            <p:ph type="sldNum" sz="quarter" idx="12"/>
          </p:nvPr>
        </p:nvSpPr>
        <p:spPr/>
        <p:txBody>
          <a:bodyPr/>
          <a:lstStyle/>
          <a:p>
            <a:fld id="{D500ED91-FA3C-4A72-84B0-A8ED419EE67B}" type="slidenum">
              <a:rPr lang="en-US" smtClean="0"/>
              <a:t>‹#›</a:t>
            </a:fld>
            <a:endParaRPr lang="en-US"/>
          </a:p>
        </p:txBody>
      </p:sp>
    </p:spTree>
    <p:extLst>
      <p:ext uri="{BB962C8B-B14F-4D97-AF65-F5344CB8AC3E}">
        <p14:creationId xmlns:p14="http://schemas.microsoft.com/office/powerpoint/2010/main" val="19910457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3E6F7-0A45-C732-0867-95BE8F4BB4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5C52110-FFF0-6978-39EA-3ABB634D1D8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344BD70-C05A-0F8F-23B4-C63B099C99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E2AE8A-3CD0-D597-C79B-25EAB7825DCD}"/>
              </a:ext>
            </a:extLst>
          </p:cNvPr>
          <p:cNvSpPr>
            <a:spLocks noGrp="1"/>
          </p:cNvSpPr>
          <p:nvPr>
            <p:ph type="dt" sz="half" idx="10"/>
          </p:nvPr>
        </p:nvSpPr>
        <p:spPr/>
        <p:txBody>
          <a:bodyPr/>
          <a:lstStyle/>
          <a:p>
            <a:fld id="{52294CE9-D24F-43BD-A133-3CD69A9BFD2C}" type="datetimeFigureOut">
              <a:rPr lang="en-US" smtClean="0"/>
              <a:t>10/10/2026</a:t>
            </a:fld>
            <a:endParaRPr lang="en-US"/>
          </a:p>
        </p:txBody>
      </p:sp>
      <p:sp>
        <p:nvSpPr>
          <p:cNvPr id="6" name="Footer Placeholder 5">
            <a:extLst>
              <a:ext uri="{FF2B5EF4-FFF2-40B4-BE49-F238E27FC236}">
                <a16:creationId xmlns:a16="http://schemas.microsoft.com/office/drawing/2014/main" id="{DBA8E39A-1698-40FB-7EDB-63D8DEB9D8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5903311-0FDF-2BB5-15AD-B3448BA915AF}"/>
              </a:ext>
            </a:extLst>
          </p:cNvPr>
          <p:cNvSpPr>
            <a:spLocks noGrp="1"/>
          </p:cNvSpPr>
          <p:nvPr>
            <p:ph type="sldNum" sz="quarter" idx="12"/>
          </p:nvPr>
        </p:nvSpPr>
        <p:spPr/>
        <p:txBody>
          <a:bodyPr/>
          <a:lstStyle/>
          <a:p>
            <a:fld id="{D500ED91-FA3C-4A72-84B0-A8ED419EE67B}" type="slidenum">
              <a:rPr lang="en-US" smtClean="0"/>
              <a:t>‹#›</a:t>
            </a:fld>
            <a:endParaRPr lang="en-US"/>
          </a:p>
        </p:txBody>
      </p:sp>
    </p:spTree>
    <p:extLst>
      <p:ext uri="{BB962C8B-B14F-4D97-AF65-F5344CB8AC3E}">
        <p14:creationId xmlns:p14="http://schemas.microsoft.com/office/powerpoint/2010/main" val="2624957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986B-D94E-48DC-87A5-72ABDF4273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DBA966-65DE-D858-FDEB-69BB0B70818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457A606-842B-0BD6-C5C3-FD9F753E2E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D107F5-78AB-7190-CFA3-5656AF4F7D3F}"/>
              </a:ext>
            </a:extLst>
          </p:cNvPr>
          <p:cNvSpPr>
            <a:spLocks noGrp="1"/>
          </p:cNvSpPr>
          <p:nvPr>
            <p:ph type="dt" sz="half" idx="10"/>
          </p:nvPr>
        </p:nvSpPr>
        <p:spPr/>
        <p:txBody>
          <a:bodyPr/>
          <a:lstStyle/>
          <a:p>
            <a:fld id="{52294CE9-D24F-43BD-A133-3CD69A9BFD2C}" type="datetimeFigureOut">
              <a:rPr lang="en-US" smtClean="0"/>
              <a:t>10/10/2026</a:t>
            </a:fld>
            <a:endParaRPr lang="en-US"/>
          </a:p>
        </p:txBody>
      </p:sp>
      <p:sp>
        <p:nvSpPr>
          <p:cNvPr id="6" name="Footer Placeholder 5">
            <a:extLst>
              <a:ext uri="{FF2B5EF4-FFF2-40B4-BE49-F238E27FC236}">
                <a16:creationId xmlns:a16="http://schemas.microsoft.com/office/drawing/2014/main" id="{BEB6C2A4-2ADC-087C-245F-B560CA9B98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3A0478-2C26-5F29-4660-59E8C0DE1964}"/>
              </a:ext>
            </a:extLst>
          </p:cNvPr>
          <p:cNvSpPr>
            <a:spLocks noGrp="1"/>
          </p:cNvSpPr>
          <p:nvPr>
            <p:ph type="sldNum" sz="quarter" idx="12"/>
          </p:nvPr>
        </p:nvSpPr>
        <p:spPr/>
        <p:txBody>
          <a:bodyPr/>
          <a:lstStyle/>
          <a:p>
            <a:fld id="{D500ED91-FA3C-4A72-84B0-A8ED419EE67B}" type="slidenum">
              <a:rPr lang="en-US" smtClean="0"/>
              <a:t>‹#›</a:t>
            </a:fld>
            <a:endParaRPr lang="en-US"/>
          </a:p>
        </p:txBody>
      </p:sp>
    </p:spTree>
    <p:extLst>
      <p:ext uri="{BB962C8B-B14F-4D97-AF65-F5344CB8AC3E}">
        <p14:creationId xmlns:p14="http://schemas.microsoft.com/office/powerpoint/2010/main" val="31697090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89E16-81A2-AC78-5CC2-06814C53E2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9822409-C494-B650-6381-52D99F3BAE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44B44AD-8239-A28C-FA91-09E1EB1CFB22}"/>
              </a:ext>
            </a:extLst>
          </p:cNvPr>
          <p:cNvSpPr>
            <a:spLocks noGrp="1"/>
          </p:cNvSpPr>
          <p:nvPr>
            <p:ph type="dt" sz="half" idx="10"/>
          </p:nvPr>
        </p:nvSpPr>
        <p:spPr/>
        <p:txBody>
          <a:bodyPr/>
          <a:lstStyle/>
          <a:p>
            <a:fld id="{52294CE9-D24F-43BD-A133-3CD69A9BFD2C}" type="datetimeFigureOut">
              <a:rPr lang="en-US" smtClean="0"/>
              <a:t>10/10/2026</a:t>
            </a:fld>
            <a:endParaRPr lang="en-US"/>
          </a:p>
        </p:txBody>
      </p:sp>
      <p:sp>
        <p:nvSpPr>
          <p:cNvPr id="5" name="Footer Placeholder 4">
            <a:extLst>
              <a:ext uri="{FF2B5EF4-FFF2-40B4-BE49-F238E27FC236}">
                <a16:creationId xmlns:a16="http://schemas.microsoft.com/office/drawing/2014/main" id="{2C0310FF-C6B9-846C-A944-F3E72F3DBB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2EB468-6077-B173-48CF-8C2F4098DC20}"/>
              </a:ext>
            </a:extLst>
          </p:cNvPr>
          <p:cNvSpPr>
            <a:spLocks noGrp="1"/>
          </p:cNvSpPr>
          <p:nvPr>
            <p:ph type="sldNum" sz="quarter" idx="12"/>
          </p:nvPr>
        </p:nvSpPr>
        <p:spPr/>
        <p:txBody>
          <a:bodyPr/>
          <a:lstStyle/>
          <a:p>
            <a:fld id="{D500ED91-FA3C-4A72-84B0-A8ED419EE67B}" type="slidenum">
              <a:rPr lang="en-US" smtClean="0"/>
              <a:t>‹#›</a:t>
            </a:fld>
            <a:endParaRPr lang="en-US"/>
          </a:p>
        </p:txBody>
      </p:sp>
    </p:spTree>
    <p:extLst>
      <p:ext uri="{BB962C8B-B14F-4D97-AF65-F5344CB8AC3E}">
        <p14:creationId xmlns:p14="http://schemas.microsoft.com/office/powerpoint/2010/main" val="6575557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B55021-20A0-CE7F-5511-5F71D9EAE87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4A72676-68E2-3867-6509-829847B7572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286556-0299-0887-7447-5D985BD9415D}"/>
              </a:ext>
            </a:extLst>
          </p:cNvPr>
          <p:cNvSpPr>
            <a:spLocks noGrp="1"/>
          </p:cNvSpPr>
          <p:nvPr>
            <p:ph type="dt" sz="half" idx="10"/>
          </p:nvPr>
        </p:nvSpPr>
        <p:spPr/>
        <p:txBody>
          <a:bodyPr/>
          <a:lstStyle/>
          <a:p>
            <a:fld id="{52294CE9-D24F-43BD-A133-3CD69A9BFD2C}" type="datetimeFigureOut">
              <a:rPr lang="en-US" smtClean="0"/>
              <a:t>10/10/2026</a:t>
            </a:fld>
            <a:endParaRPr lang="en-US"/>
          </a:p>
        </p:txBody>
      </p:sp>
      <p:sp>
        <p:nvSpPr>
          <p:cNvPr id="5" name="Footer Placeholder 4">
            <a:extLst>
              <a:ext uri="{FF2B5EF4-FFF2-40B4-BE49-F238E27FC236}">
                <a16:creationId xmlns:a16="http://schemas.microsoft.com/office/drawing/2014/main" id="{359E6102-8AE7-73A0-C3F3-A8EBA2A757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6191DE-8398-9CD2-87E7-2D8E449CCD46}"/>
              </a:ext>
            </a:extLst>
          </p:cNvPr>
          <p:cNvSpPr>
            <a:spLocks noGrp="1"/>
          </p:cNvSpPr>
          <p:nvPr>
            <p:ph type="sldNum" sz="quarter" idx="12"/>
          </p:nvPr>
        </p:nvSpPr>
        <p:spPr/>
        <p:txBody>
          <a:bodyPr/>
          <a:lstStyle/>
          <a:p>
            <a:fld id="{D500ED91-FA3C-4A72-84B0-A8ED419EE67B}" type="slidenum">
              <a:rPr lang="en-US" smtClean="0"/>
              <a:t>‹#›</a:t>
            </a:fld>
            <a:endParaRPr lang="en-US"/>
          </a:p>
        </p:txBody>
      </p:sp>
    </p:spTree>
    <p:extLst>
      <p:ext uri="{BB962C8B-B14F-4D97-AF65-F5344CB8AC3E}">
        <p14:creationId xmlns:p14="http://schemas.microsoft.com/office/powerpoint/2010/main" val="5646368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82BC0AE-1AEE-DE31-676E-8638FBDE817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3E9D74-FF76-CF77-0FD8-B1B381A016A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AB9547-B4D1-C37B-5C4C-B1F58ABFDD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2294CE9-D24F-43BD-A133-3CD69A9BFD2C}" type="datetimeFigureOut">
              <a:rPr lang="en-US" smtClean="0"/>
              <a:t>10/10/2026</a:t>
            </a:fld>
            <a:endParaRPr lang="en-US"/>
          </a:p>
        </p:txBody>
      </p:sp>
      <p:sp>
        <p:nvSpPr>
          <p:cNvPr id="5" name="Footer Placeholder 4">
            <a:extLst>
              <a:ext uri="{FF2B5EF4-FFF2-40B4-BE49-F238E27FC236}">
                <a16:creationId xmlns:a16="http://schemas.microsoft.com/office/drawing/2014/main" id="{42C14FF5-7B5C-6172-F93B-B0966DB9512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589824B-64E2-0DDB-C6A4-7C9212C5F2F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500ED91-FA3C-4A72-84B0-A8ED419EE67B}" type="slidenum">
              <a:rPr lang="en-US" smtClean="0"/>
              <a:t>‹#›</a:t>
            </a:fld>
            <a:endParaRPr lang="en-US"/>
          </a:p>
        </p:txBody>
      </p:sp>
    </p:spTree>
    <p:extLst>
      <p:ext uri="{BB962C8B-B14F-4D97-AF65-F5344CB8AC3E}">
        <p14:creationId xmlns:p14="http://schemas.microsoft.com/office/powerpoint/2010/main" val="2196842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play.google.com/store/apps/details?id=com.gam.ammanislistening" TargetMode="External"/><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hyperlink" Target="https://aiquest2026.site/#/hack" TargetMode="External"/><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hyperlink" Target="https://github.com/Coder-511/moshkelti-citizen-android-pilot" TargetMode="External"/><Relationship Id="rId5" Type="http://schemas.openxmlformats.org/officeDocument/2006/relationships/hyperlink" Target="https://github.com/Coder-511/AI_HACKTHON_2026" TargetMode="External"/><Relationship Id="rId4" Type="http://schemas.openxmlformats.org/officeDocument/2006/relationships/hyperlink" Target="https://play.google.com/store/apps/details?id=com.gam.ammanislistening"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A2969EE-F64B-9665-16F3-69F6C6D1F1A8}"/>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0E5B9EF-E256-6058-1C95-1DF27771EB69}"/>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it-IT" sz="1100" b="1">
                <a:solidFill>
                  <a:srgbClr val="C5DDCB"/>
                </a:solidFill>
                <a:latin typeface="Aptos" panose="020B0004020202020204" pitchFamily="34" charset="0"/>
              </a:rPr>
              <a:t>AI QUEST 2026 / NEXT.SOCIETY()</a:t>
            </a:r>
            <a:endParaRPr lang="en-US" sz="1100" b="1">
              <a:solidFill>
                <a:srgbClr val="C5DDCB"/>
              </a:solidFill>
              <a:latin typeface="Aptos" panose="020B0004020202020204" pitchFamily="34" charset="0"/>
            </a:endParaRPr>
          </a:p>
        </p:txBody>
      </p:sp>
      <p:cxnSp>
        <p:nvCxnSpPr>
          <p:cNvPr id="4" name="Straight Connector 3">
            <a:extLst>
              <a:ext uri="{FF2B5EF4-FFF2-40B4-BE49-F238E27FC236}">
                <a16:creationId xmlns:a16="http://schemas.microsoft.com/office/drawing/2014/main" id="{A1299973-3A59-6D11-6096-F7AE242020BF}"/>
              </a:ext>
            </a:extLst>
          </p:cNvPr>
          <p:cNvCxnSpPr/>
          <p:nvPr/>
        </p:nvCxnSpPr>
        <p:spPr>
          <a:xfrm>
            <a:off x="533400" y="6426200"/>
            <a:ext cx="11125200" cy="0"/>
          </a:xfrm>
          <a:prstGeom prst="line">
            <a:avLst/>
          </a:prstGeom>
          <a:ln w="12700">
            <a:solidFill>
              <a:srgbClr val="47635A"/>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07F87211-3B29-1E67-9969-8DDE33F1A861}"/>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C5DDCB"/>
                </a:solidFill>
                <a:latin typeface="Aptos" panose="020B0004020202020204" pitchFamily="34" charset="0"/>
              </a:rPr>
              <a:t>MOSHKELTI   /   AI QUEST 2026   /   next.society()</a:t>
            </a:r>
            <a:endParaRPr lang="en-US" sz="900" b="1">
              <a:solidFill>
                <a:srgbClr val="C5DDCB"/>
              </a:solidFill>
              <a:latin typeface="Aptos" panose="020B0004020202020204" pitchFamily="34" charset="0"/>
            </a:endParaRPr>
          </a:p>
        </p:txBody>
      </p:sp>
      <p:sp>
        <p:nvSpPr>
          <p:cNvPr id="6" name="TextBox 5">
            <a:extLst>
              <a:ext uri="{FF2B5EF4-FFF2-40B4-BE49-F238E27FC236}">
                <a16:creationId xmlns:a16="http://schemas.microsoft.com/office/drawing/2014/main" id="{25A5F03E-33EC-BD52-182C-C0A32E053882}"/>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C5DDCB"/>
                </a:solidFill>
                <a:latin typeface="Aptos" panose="020B0004020202020204" pitchFamily="34" charset="0"/>
              </a:rPr>
              <a:t>01 / 08</a:t>
            </a:r>
          </a:p>
        </p:txBody>
      </p:sp>
      <p:sp>
        <p:nvSpPr>
          <p:cNvPr id="7" name="TextBox 6">
            <a:extLst>
              <a:ext uri="{FF2B5EF4-FFF2-40B4-BE49-F238E27FC236}">
                <a16:creationId xmlns:a16="http://schemas.microsoft.com/office/drawing/2014/main" id="{AEA90BA5-CD7B-5139-34BF-55695133F39C}"/>
              </a:ext>
            </a:extLst>
          </p:cNvPr>
          <p:cNvSpPr txBox="1"/>
          <p:nvPr/>
        </p:nvSpPr>
        <p:spPr>
          <a:xfrm>
            <a:off x="533400" y="1104899"/>
            <a:ext cx="6197600" cy="914400"/>
          </a:xfrm>
          <a:prstGeom prst="rect">
            <a:avLst/>
          </a:prstGeom>
          <a:noFill/>
        </p:spPr>
        <p:txBody>
          <a:bodyPr vert="horz" wrap="square" lIns="0" tIns="0" rIns="0" bIns="0" rtlCol="0">
            <a:noAutofit/>
          </a:bodyPr>
          <a:lstStyle/>
          <a:p>
            <a:pPr algn="r" rtl="1">
              <a:spcAft>
                <a:spcPts val="400"/>
              </a:spcAft>
            </a:pPr>
            <a:r>
              <a:rPr lang="ar-JO" sz="5200" b="1">
                <a:solidFill>
                  <a:srgbClr val="FFFFFF"/>
                </a:solidFill>
                <a:latin typeface="Tahoma" panose="020B0604030504040204" pitchFamily="34" charset="0"/>
              </a:rPr>
              <a:t>مشكلتي</a:t>
            </a:r>
            <a:endParaRPr lang="en-US" sz="5200" b="1">
              <a:solidFill>
                <a:srgbClr val="FFFFFF"/>
              </a:solidFill>
              <a:latin typeface="Tahoma" panose="020B0604030504040204" pitchFamily="34" charset="0"/>
            </a:endParaRPr>
          </a:p>
        </p:txBody>
      </p:sp>
      <p:sp>
        <p:nvSpPr>
          <p:cNvPr id="8" name="TextBox 7">
            <a:extLst>
              <a:ext uri="{FF2B5EF4-FFF2-40B4-BE49-F238E27FC236}">
                <a16:creationId xmlns:a16="http://schemas.microsoft.com/office/drawing/2014/main" id="{B7157F0B-57FA-8BB9-1B53-D2C7CFB490F5}"/>
              </a:ext>
            </a:extLst>
          </p:cNvPr>
          <p:cNvSpPr txBox="1"/>
          <p:nvPr/>
        </p:nvSpPr>
        <p:spPr>
          <a:xfrm>
            <a:off x="533400" y="2108199"/>
            <a:ext cx="6197600" cy="469900"/>
          </a:xfrm>
          <a:prstGeom prst="rect">
            <a:avLst/>
          </a:prstGeom>
          <a:noFill/>
        </p:spPr>
        <p:txBody>
          <a:bodyPr vert="horz" wrap="square" lIns="0" tIns="0" rIns="0" bIns="0" rtlCol="0">
            <a:noAutofit/>
          </a:bodyPr>
          <a:lstStyle/>
          <a:p>
            <a:pPr>
              <a:spcAft>
                <a:spcPts val="400"/>
              </a:spcAft>
            </a:pPr>
            <a:r>
              <a:rPr lang="en-US" sz="2500" b="1">
                <a:solidFill>
                  <a:srgbClr val="C5DDCB"/>
                </a:solidFill>
                <a:latin typeface="Aptos" panose="020B0004020202020204" pitchFamily="34" charset="0"/>
              </a:rPr>
              <a:t>MOSHKELTI</a:t>
            </a:r>
          </a:p>
        </p:txBody>
      </p:sp>
      <p:sp>
        <p:nvSpPr>
          <p:cNvPr id="9" name="TextBox 8">
            <a:extLst>
              <a:ext uri="{FF2B5EF4-FFF2-40B4-BE49-F238E27FC236}">
                <a16:creationId xmlns:a16="http://schemas.microsoft.com/office/drawing/2014/main" id="{CD48CBAA-3D76-2A5E-F5B2-30E66C03BF67}"/>
              </a:ext>
            </a:extLst>
          </p:cNvPr>
          <p:cNvSpPr txBox="1"/>
          <p:nvPr/>
        </p:nvSpPr>
        <p:spPr>
          <a:xfrm>
            <a:off x="533400" y="2997199"/>
            <a:ext cx="6070600" cy="1574800"/>
          </a:xfrm>
          <a:prstGeom prst="rect">
            <a:avLst/>
          </a:prstGeom>
          <a:noFill/>
        </p:spPr>
        <p:txBody>
          <a:bodyPr vert="horz" wrap="square" lIns="0" tIns="0" rIns="0" bIns="0" rtlCol="0">
            <a:noAutofit/>
          </a:bodyPr>
          <a:lstStyle/>
          <a:p>
            <a:pPr>
              <a:spcAft>
                <a:spcPts val="400"/>
              </a:spcAft>
            </a:pPr>
            <a:r>
              <a:rPr lang="en-US" sz="3600" b="1">
                <a:solidFill>
                  <a:srgbClr val="FFFFFF"/>
                </a:solidFill>
                <a:latin typeface="Aptos" panose="020B0004020202020204" pitchFamily="34" charset="0"/>
              </a:rPr>
              <a:t>A report deserves
a clear next step.</a:t>
            </a:r>
          </a:p>
        </p:txBody>
      </p:sp>
      <p:sp>
        <p:nvSpPr>
          <p:cNvPr id="10" name="TextBox 9">
            <a:extLst>
              <a:ext uri="{FF2B5EF4-FFF2-40B4-BE49-F238E27FC236}">
                <a16:creationId xmlns:a16="http://schemas.microsoft.com/office/drawing/2014/main" id="{958BE69F-5E49-6AF6-3B9C-AD5D28DE3669}"/>
              </a:ext>
            </a:extLst>
          </p:cNvPr>
          <p:cNvSpPr txBox="1"/>
          <p:nvPr/>
        </p:nvSpPr>
        <p:spPr>
          <a:xfrm>
            <a:off x="533400" y="4876799"/>
            <a:ext cx="5842000" cy="762000"/>
          </a:xfrm>
          <a:prstGeom prst="rect">
            <a:avLst/>
          </a:prstGeom>
          <a:noFill/>
        </p:spPr>
        <p:txBody>
          <a:bodyPr vert="horz" wrap="square" lIns="0" tIns="0" rIns="0" bIns="0" rtlCol="0">
            <a:noAutofit/>
          </a:bodyPr>
          <a:lstStyle/>
          <a:p>
            <a:pPr>
              <a:spcAft>
                <a:spcPts val="400"/>
              </a:spcAft>
            </a:pPr>
            <a:r>
              <a:rPr lang="en-US" sz="2000">
                <a:solidFill>
                  <a:srgbClr val="C5DDCB"/>
                </a:solidFill>
                <a:latin typeface="Aptos" panose="020B0004020202020204" pitchFamily="34" charset="0"/>
              </a:rPr>
              <a:t>AI-assisted civic triage.
Human-reviewed decisions.</a:t>
            </a:r>
          </a:p>
        </p:txBody>
      </p:sp>
      <p:sp>
        <p:nvSpPr>
          <p:cNvPr id="11" name="Rectangle: Rounded Corners 10">
            <a:extLst>
              <a:ext uri="{FF2B5EF4-FFF2-40B4-BE49-F238E27FC236}">
                <a16:creationId xmlns:a16="http://schemas.microsoft.com/office/drawing/2014/main" id="{AE44684B-7712-0432-0562-056847F3332A}"/>
              </a:ext>
            </a:extLst>
          </p:cNvPr>
          <p:cNvSpPr/>
          <p:nvPr/>
        </p:nvSpPr>
        <p:spPr>
          <a:xfrm>
            <a:off x="7353300" y="1155700"/>
            <a:ext cx="4279900" cy="4279900"/>
          </a:xfrm>
          <a:prstGeom prst="roundRect">
            <a:avLst>
              <a:gd name="adj" fmla="val 13000"/>
            </a:avLst>
          </a:prstGeom>
          <a:solidFill>
            <a:srgbClr val="244F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CAD8CFDF-7EB4-A2BB-E7BF-F45466AAB019}"/>
              </a:ext>
            </a:extLst>
          </p:cNvPr>
          <p:cNvSpPr txBox="1"/>
          <p:nvPr/>
        </p:nvSpPr>
        <p:spPr>
          <a:xfrm>
            <a:off x="7696200" y="1511299"/>
            <a:ext cx="3568700" cy="342900"/>
          </a:xfrm>
          <a:prstGeom prst="rect">
            <a:avLst/>
          </a:prstGeom>
          <a:noFill/>
        </p:spPr>
        <p:txBody>
          <a:bodyPr vert="horz" wrap="square" lIns="0" tIns="0" rIns="0" bIns="0" rtlCol="0">
            <a:noAutofit/>
          </a:bodyPr>
          <a:lstStyle/>
          <a:p>
            <a:pPr>
              <a:spcAft>
                <a:spcPts val="400"/>
              </a:spcAft>
            </a:pPr>
            <a:r>
              <a:rPr lang="en-US" sz="1100" b="1">
                <a:solidFill>
                  <a:srgbClr val="C5DDCB"/>
                </a:solidFill>
                <a:latin typeface="Aptos" panose="020B0004020202020204" pitchFamily="34" charset="0"/>
              </a:rPr>
              <a:t>PUBLIC ROAD ISSUE</a:t>
            </a:r>
          </a:p>
        </p:txBody>
      </p:sp>
      <p:cxnSp>
        <p:nvCxnSpPr>
          <p:cNvPr id="13" name="Straight Connector 12">
            <a:extLst>
              <a:ext uri="{FF2B5EF4-FFF2-40B4-BE49-F238E27FC236}">
                <a16:creationId xmlns:a16="http://schemas.microsoft.com/office/drawing/2014/main" id="{0A6C31F5-CE07-B519-8FCB-D6ADE5A0F46E}"/>
              </a:ext>
            </a:extLst>
          </p:cNvPr>
          <p:cNvCxnSpPr/>
          <p:nvPr/>
        </p:nvCxnSpPr>
        <p:spPr>
          <a:xfrm>
            <a:off x="8001000" y="2159000"/>
            <a:ext cx="2832100" cy="0"/>
          </a:xfrm>
          <a:prstGeom prst="line">
            <a:avLst/>
          </a:prstGeom>
          <a:ln w="88900">
            <a:solidFill>
              <a:srgbClr val="47635A"/>
            </a:solidFill>
          </a:ln>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4698A378-C83F-F536-FC77-451385137781}"/>
              </a:ext>
            </a:extLst>
          </p:cNvPr>
          <p:cNvCxnSpPr/>
          <p:nvPr/>
        </p:nvCxnSpPr>
        <p:spPr>
          <a:xfrm>
            <a:off x="8001000" y="2692400"/>
            <a:ext cx="2832100" cy="0"/>
          </a:xfrm>
          <a:prstGeom prst="line">
            <a:avLst/>
          </a:prstGeom>
          <a:ln w="88900">
            <a:solidFill>
              <a:srgbClr val="47635A"/>
            </a:solidFill>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47BBDFF4-4BA3-DAD7-933D-8E6168D35839}"/>
              </a:ext>
            </a:extLst>
          </p:cNvPr>
          <p:cNvSpPr/>
          <p:nvPr/>
        </p:nvSpPr>
        <p:spPr>
          <a:xfrm>
            <a:off x="9080500" y="2057400"/>
            <a:ext cx="673100" cy="673100"/>
          </a:xfrm>
          <a:prstGeom prst="ellipse">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923125A0-E4A0-7673-8490-D0E8A0486CA8}"/>
              </a:ext>
            </a:extLst>
          </p:cNvPr>
          <p:cNvSpPr txBox="1"/>
          <p:nvPr/>
        </p:nvSpPr>
        <p:spPr>
          <a:xfrm>
            <a:off x="7696200" y="3314699"/>
            <a:ext cx="3568700" cy="635000"/>
          </a:xfrm>
          <a:prstGeom prst="rect">
            <a:avLst/>
          </a:prstGeom>
          <a:noFill/>
        </p:spPr>
        <p:txBody>
          <a:bodyPr vert="horz" wrap="square" lIns="0" tIns="0" rIns="0" bIns="0" rtlCol="0">
            <a:noAutofit/>
          </a:bodyPr>
          <a:lstStyle/>
          <a:p>
            <a:pPr>
              <a:spcAft>
                <a:spcPts val="400"/>
              </a:spcAft>
            </a:pPr>
            <a:r>
              <a:rPr lang="en-US" sz="2500" b="1">
                <a:solidFill>
                  <a:srgbClr val="FFFFFF"/>
                </a:solidFill>
                <a:latin typeface="Aptos" panose="020B0004020202020204" pitchFamily="34" charset="0"/>
              </a:rPr>
              <a:t>Describe. Review. Track.</a:t>
            </a:r>
          </a:p>
        </p:txBody>
      </p:sp>
      <p:sp>
        <p:nvSpPr>
          <p:cNvPr id="17" name="TextBox 16">
            <a:extLst>
              <a:ext uri="{FF2B5EF4-FFF2-40B4-BE49-F238E27FC236}">
                <a16:creationId xmlns:a16="http://schemas.microsoft.com/office/drawing/2014/main" id="{7C47D3CB-FC82-5239-B5EB-2BBBF4E70EA6}"/>
              </a:ext>
            </a:extLst>
          </p:cNvPr>
          <p:cNvSpPr txBox="1"/>
          <p:nvPr/>
        </p:nvSpPr>
        <p:spPr>
          <a:xfrm>
            <a:off x="7696200" y="4279899"/>
            <a:ext cx="3568700" cy="825500"/>
          </a:xfrm>
          <a:prstGeom prst="rect">
            <a:avLst/>
          </a:prstGeom>
          <a:noFill/>
        </p:spPr>
        <p:txBody>
          <a:bodyPr vert="horz" wrap="square" lIns="0" tIns="0" rIns="0" bIns="0" rtlCol="0">
            <a:noAutofit/>
          </a:bodyPr>
          <a:lstStyle/>
          <a:p>
            <a:pPr>
              <a:spcAft>
                <a:spcPts val="400"/>
              </a:spcAft>
            </a:pPr>
            <a:r>
              <a:rPr lang="en-US" sz="1500">
                <a:solidFill>
                  <a:srgbClr val="C5DDCB"/>
                </a:solidFill>
                <a:latin typeface="Aptos" panose="020B0004020202020204" pitchFamily="34" charset="0"/>
              </a:rPr>
              <a:t>A civic-reporting pilot for Jordan
Independent demo · not an official service</a:t>
            </a:r>
          </a:p>
        </p:txBody>
      </p:sp>
    </p:spTree>
    <p:extLst>
      <p:ext uri="{BB962C8B-B14F-4D97-AF65-F5344CB8AC3E}">
        <p14:creationId xmlns:p14="http://schemas.microsoft.com/office/powerpoint/2010/main" val="17240590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2104759-7014-1207-FE24-4AC65B28A7CD}"/>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70A0699F-C5A8-E562-1F17-EF1635A40A73}"/>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60756B"/>
                </a:solidFill>
                <a:latin typeface="Aptos" panose="020B0004020202020204" pitchFamily="34" charset="0"/>
              </a:rPr>
              <a:t>01 / JORDAN &amp; THE PEOPLE WHO BENEFIT</a:t>
            </a:r>
          </a:p>
        </p:txBody>
      </p:sp>
      <p:sp>
        <p:nvSpPr>
          <p:cNvPr id="4" name="TextBox 3">
            <a:extLst>
              <a:ext uri="{FF2B5EF4-FFF2-40B4-BE49-F238E27FC236}">
                <a16:creationId xmlns:a16="http://schemas.microsoft.com/office/drawing/2014/main" id="{22A8621E-38C8-4C40-4D1F-BA32289AAD43}"/>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203D33"/>
                </a:solidFill>
                <a:latin typeface="Aptos" panose="020B0004020202020204" pitchFamily="34" charset="0"/>
              </a:rPr>
              <a:t>The gap is not another form.
It is a review-ready case.</a:t>
            </a:r>
          </a:p>
        </p:txBody>
      </p:sp>
      <p:sp>
        <p:nvSpPr>
          <p:cNvPr id="5" name="TextBox 4">
            <a:extLst>
              <a:ext uri="{FF2B5EF4-FFF2-40B4-BE49-F238E27FC236}">
                <a16:creationId xmlns:a16="http://schemas.microsoft.com/office/drawing/2014/main" id="{5CDD976F-8C37-CB24-15C8-F45C87B6B54B}"/>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60756B"/>
                </a:solidFill>
                <a:latin typeface="Aptos" panose="020B0004020202020204" pitchFamily="34" charset="0"/>
              </a:rPr>
              <a:t>Problem hypothesis: clearer intake may reduce repeated clarification. Not yet measured.</a:t>
            </a:r>
          </a:p>
        </p:txBody>
      </p:sp>
      <p:cxnSp>
        <p:nvCxnSpPr>
          <p:cNvPr id="6" name="Straight Connector 5">
            <a:extLst>
              <a:ext uri="{FF2B5EF4-FFF2-40B4-BE49-F238E27FC236}">
                <a16:creationId xmlns:a16="http://schemas.microsoft.com/office/drawing/2014/main" id="{CBAAABDD-0A97-6D40-71B2-B380D48AE322}"/>
              </a:ext>
            </a:extLst>
          </p:cNvPr>
          <p:cNvCxnSpPr/>
          <p:nvPr/>
        </p:nvCxnSpPr>
        <p:spPr>
          <a:xfrm>
            <a:off x="533400" y="6426200"/>
            <a:ext cx="111252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4DD238E-6D21-FFEE-948A-FBEBA86B775A}"/>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60756B"/>
                </a:solidFill>
                <a:latin typeface="Aptos" panose="020B0004020202020204" pitchFamily="34" charset="0"/>
              </a:rPr>
              <a:t>MOSHKELTI   /   AI QUEST 2026   /   next.society()</a:t>
            </a:r>
            <a:endParaRPr lang="en-US" sz="900" b="1">
              <a:solidFill>
                <a:srgbClr val="60756B"/>
              </a:solidFill>
              <a:latin typeface="Aptos" panose="020B0004020202020204" pitchFamily="34" charset="0"/>
            </a:endParaRPr>
          </a:p>
        </p:txBody>
      </p:sp>
      <p:sp>
        <p:nvSpPr>
          <p:cNvPr id="8" name="TextBox 7">
            <a:extLst>
              <a:ext uri="{FF2B5EF4-FFF2-40B4-BE49-F238E27FC236}">
                <a16:creationId xmlns:a16="http://schemas.microsoft.com/office/drawing/2014/main" id="{63D50FAC-183D-7F7F-E438-514169FAD01C}"/>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60756B"/>
                </a:solidFill>
                <a:latin typeface="Aptos" panose="020B0004020202020204" pitchFamily="34" charset="0"/>
              </a:rPr>
              <a:t>02 / 08</a:t>
            </a:r>
          </a:p>
        </p:txBody>
      </p:sp>
      <p:sp>
        <p:nvSpPr>
          <p:cNvPr id="9" name="Rectangle: Rounded Corners 8">
            <a:extLst>
              <a:ext uri="{FF2B5EF4-FFF2-40B4-BE49-F238E27FC236}">
                <a16:creationId xmlns:a16="http://schemas.microsoft.com/office/drawing/2014/main" id="{67C2C60F-FF72-7DC7-3E62-5BA61850AC69}"/>
              </a:ext>
            </a:extLst>
          </p:cNvPr>
          <p:cNvSpPr/>
          <p:nvPr/>
        </p:nvSpPr>
        <p:spPr>
          <a:xfrm>
            <a:off x="533400" y="2717800"/>
            <a:ext cx="3530600" cy="28575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44CF9AD-F9FA-4566-E5CD-F7C7B9CAB6AF}"/>
              </a:ext>
            </a:extLst>
          </p:cNvPr>
          <p:cNvSpPr txBox="1"/>
          <p:nvPr/>
        </p:nvSpPr>
        <p:spPr>
          <a:xfrm>
            <a:off x="787400" y="29463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CITIZEN</a:t>
            </a:r>
          </a:p>
        </p:txBody>
      </p:sp>
      <p:sp>
        <p:nvSpPr>
          <p:cNvPr id="11" name="TextBox 10">
            <a:extLst>
              <a:ext uri="{FF2B5EF4-FFF2-40B4-BE49-F238E27FC236}">
                <a16:creationId xmlns:a16="http://schemas.microsoft.com/office/drawing/2014/main" id="{D6BB3F80-CCD5-02B4-50D8-D94FC5FE99E0}"/>
              </a:ext>
            </a:extLst>
          </p:cNvPr>
          <p:cNvSpPr txBox="1"/>
          <p:nvPr/>
        </p:nvSpPr>
        <p:spPr>
          <a:xfrm>
            <a:off x="787400" y="33654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I know the problem.</a:t>
            </a:r>
          </a:p>
        </p:txBody>
      </p:sp>
      <p:sp>
        <p:nvSpPr>
          <p:cNvPr id="12" name="TextBox 11">
            <a:extLst>
              <a:ext uri="{FF2B5EF4-FFF2-40B4-BE49-F238E27FC236}">
                <a16:creationId xmlns:a16="http://schemas.microsoft.com/office/drawing/2014/main" id="{5C748E10-E022-2401-CA85-0019BF232A12}"/>
              </a:ext>
            </a:extLst>
          </p:cNvPr>
          <p:cNvSpPr txBox="1"/>
          <p:nvPr/>
        </p:nvSpPr>
        <p:spPr>
          <a:xfrm>
            <a:off x="787400" y="4305299"/>
            <a:ext cx="3022600" cy="10922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Arabic-first citizens who do not know department names or what evidence is needed.</a:t>
            </a:r>
          </a:p>
        </p:txBody>
      </p:sp>
      <p:sp>
        <p:nvSpPr>
          <p:cNvPr id="13" name="Rectangle: Rounded Corners 12">
            <a:extLst>
              <a:ext uri="{FF2B5EF4-FFF2-40B4-BE49-F238E27FC236}">
                <a16:creationId xmlns:a16="http://schemas.microsoft.com/office/drawing/2014/main" id="{8B6E3F0A-0DA5-1707-B0B9-85E436EB4CE7}"/>
              </a:ext>
            </a:extLst>
          </p:cNvPr>
          <p:cNvSpPr/>
          <p:nvPr/>
        </p:nvSpPr>
        <p:spPr>
          <a:xfrm>
            <a:off x="4330700" y="2717800"/>
            <a:ext cx="3530600" cy="28575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EBE65DA-CDD4-2049-AE76-2BC5BD5E60B6}"/>
              </a:ext>
            </a:extLst>
          </p:cNvPr>
          <p:cNvSpPr txBox="1"/>
          <p:nvPr/>
        </p:nvSpPr>
        <p:spPr>
          <a:xfrm>
            <a:off x="4584700" y="29463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REVIEWER</a:t>
            </a:r>
          </a:p>
        </p:txBody>
      </p:sp>
      <p:sp>
        <p:nvSpPr>
          <p:cNvPr id="15" name="TextBox 14">
            <a:extLst>
              <a:ext uri="{FF2B5EF4-FFF2-40B4-BE49-F238E27FC236}">
                <a16:creationId xmlns:a16="http://schemas.microsoft.com/office/drawing/2014/main" id="{D6014671-82EC-FDEE-1441-C7188CA35E0D}"/>
              </a:ext>
            </a:extLst>
          </p:cNvPr>
          <p:cNvSpPr txBox="1"/>
          <p:nvPr/>
        </p:nvSpPr>
        <p:spPr>
          <a:xfrm>
            <a:off x="4584700" y="33654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I need the details.</a:t>
            </a:r>
          </a:p>
        </p:txBody>
      </p:sp>
      <p:sp>
        <p:nvSpPr>
          <p:cNvPr id="16" name="TextBox 15">
            <a:extLst>
              <a:ext uri="{FF2B5EF4-FFF2-40B4-BE49-F238E27FC236}">
                <a16:creationId xmlns:a16="http://schemas.microsoft.com/office/drawing/2014/main" id="{97D57442-2B2F-87CE-C619-8E4F7DB25959}"/>
              </a:ext>
            </a:extLst>
          </p:cNvPr>
          <p:cNvSpPr txBox="1"/>
          <p:nvPr/>
        </p:nvSpPr>
        <p:spPr>
          <a:xfrm>
            <a:off x="4584700" y="4305299"/>
            <a:ext cx="3022600" cy="10922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A reviewer needs usable context before checking location, jurisdiction and the next action.</a:t>
            </a:r>
          </a:p>
        </p:txBody>
      </p:sp>
      <p:sp>
        <p:nvSpPr>
          <p:cNvPr id="17" name="Rectangle: Rounded Corners 16">
            <a:extLst>
              <a:ext uri="{FF2B5EF4-FFF2-40B4-BE49-F238E27FC236}">
                <a16:creationId xmlns:a16="http://schemas.microsoft.com/office/drawing/2014/main" id="{0F6F8E9A-8CDE-56CC-3D59-AFFFFF7072E3}"/>
              </a:ext>
            </a:extLst>
          </p:cNvPr>
          <p:cNvSpPr/>
          <p:nvPr/>
        </p:nvSpPr>
        <p:spPr>
          <a:xfrm>
            <a:off x="8128000" y="2717800"/>
            <a:ext cx="3530600" cy="28575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7F4F6D3-69BC-7F59-DBF9-07A08B374EF2}"/>
              </a:ext>
            </a:extLst>
          </p:cNvPr>
          <p:cNvSpPr txBox="1"/>
          <p:nvPr/>
        </p:nvSpPr>
        <p:spPr>
          <a:xfrm>
            <a:off x="8382000" y="29463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OUR FOCUS</a:t>
            </a:r>
          </a:p>
        </p:txBody>
      </p:sp>
      <p:sp>
        <p:nvSpPr>
          <p:cNvPr id="19" name="TextBox 18">
            <a:extLst>
              <a:ext uri="{FF2B5EF4-FFF2-40B4-BE49-F238E27FC236}">
                <a16:creationId xmlns:a16="http://schemas.microsoft.com/office/drawing/2014/main" id="{1DFA6A22-0BF9-BBFA-AEFE-AC3460F60344}"/>
              </a:ext>
            </a:extLst>
          </p:cNvPr>
          <p:cNvSpPr txBox="1"/>
          <p:nvPr/>
        </p:nvSpPr>
        <p:spPr>
          <a:xfrm>
            <a:off x="8382000" y="33654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Prepare, then review.</a:t>
            </a:r>
          </a:p>
        </p:txBody>
      </p:sp>
      <p:sp>
        <p:nvSpPr>
          <p:cNvPr id="20" name="TextBox 19">
            <a:extLst>
              <a:ext uri="{FF2B5EF4-FFF2-40B4-BE49-F238E27FC236}">
                <a16:creationId xmlns:a16="http://schemas.microsoft.com/office/drawing/2014/main" id="{8889E7C4-EDBC-C87E-50FC-5B937D1E0328}"/>
              </a:ext>
            </a:extLst>
          </p:cNvPr>
          <p:cNvSpPr txBox="1"/>
          <p:nvPr/>
        </p:nvSpPr>
        <p:spPr>
          <a:xfrm>
            <a:off x="8382000" y="4305299"/>
            <a:ext cx="3022600" cy="10922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Roads, lighting, drainage, waste and public facilities. Start with a bounded Amman pilot.</a:t>
            </a:r>
          </a:p>
        </p:txBody>
      </p:sp>
      <p:sp>
        <p:nvSpPr>
          <p:cNvPr id="21" name="TextBox 20">
            <a:extLst>
              <a:ext uri="{FF2B5EF4-FFF2-40B4-BE49-F238E27FC236}">
                <a16:creationId xmlns:a16="http://schemas.microsoft.com/office/drawing/2014/main" id="{D2373C72-C571-85BC-4BD4-D237CD77A6A4}"/>
              </a:ext>
            </a:extLst>
          </p:cNvPr>
          <p:cNvSpPr txBox="1"/>
          <p:nvPr/>
        </p:nvSpPr>
        <p:spPr>
          <a:xfrm>
            <a:off x="533400" y="5816599"/>
            <a:ext cx="11125200" cy="444500"/>
          </a:xfrm>
          <a:prstGeom prst="rect">
            <a:avLst/>
          </a:prstGeom>
          <a:noFill/>
        </p:spPr>
        <p:txBody>
          <a:bodyPr vert="horz" wrap="square" lIns="0" tIns="0" rIns="0" bIns="0" rtlCol="0">
            <a:noAutofit/>
          </a:bodyPr>
          <a:lstStyle/>
          <a:p>
            <a:pPr>
              <a:spcAft>
                <a:spcPts val="400"/>
              </a:spcAft>
            </a:pPr>
            <a:r>
              <a:rPr lang="en-US" sz="1300">
                <a:solidFill>
                  <a:srgbClr val="60756B"/>
                </a:solidFill>
                <a:latin typeface="Aptos" panose="020B0004020202020204" pitchFamily="34" charset="0"/>
              </a:rPr>
              <a:t>Official reporting channels already exist. We propose an AI-assisted preparation layer—not a claim of first-ever reporting.</a:t>
            </a:r>
          </a:p>
        </p:txBody>
      </p:sp>
    </p:spTree>
    <p:extLst>
      <p:ext uri="{BB962C8B-B14F-4D97-AF65-F5344CB8AC3E}">
        <p14:creationId xmlns:p14="http://schemas.microsoft.com/office/powerpoint/2010/main" val="23644330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8E422BC-E460-2FF8-F632-BCCFC8B43DC5}"/>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06CEB00-E930-5D86-4E95-CC969462F10F}"/>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60756B"/>
                </a:solidFill>
                <a:latin typeface="Aptos" panose="020B0004020202020204" pitchFamily="34" charset="0"/>
              </a:rPr>
              <a:t>02 / THE CITIZEN-TO-REVIEW JOURNEY</a:t>
            </a:r>
          </a:p>
        </p:txBody>
      </p:sp>
      <p:sp>
        <p:nvSpPr>
          <p:cNvPr id="4" name="TextBox 3">
            <a:extLst>
              <a:ext uri="{FF2B5EF4-FFF2-40B4-BE49-F238E27FC236}">
                <a16:creationId xmlns:a16="http://schemas.microsoft.com/office/drawing/2014/main" id="{01A09DE2-FECE-D159-FBD9-6ECA8E7FC987}"/>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203D33"/>
                </a:solidFill>
                <a:latin typeface="Aptos" panose="020B0004020202020204" pitchFamily="34" charset="0"/>
              </a:rPr>
              <a:t>One case. Four accountable steps.</a:t>
            </a:r>
          </a:p>
        </p:txBody>
      </p:sp>
      <p:sp>
        <p:nvSpPr>
          <p:cNvPr id="5" name="TextBox 4">
            <a:extLst>
              <a:ext uri="{FF2B5EF4-FFF2-40B4-BE49-F238E27FC236}">
                <a16:creationId xmlns:a16="http://schemas.microsoft.com/office/drawing/2014/main" id="{8F9653B1-5B79-B374-6E86-7F9D48EFA357}"/>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60756B"/>
                </a:solidFill>
                <a:latin typeface="Aptos" panose="020B0004020202020204" pitchFamily="34" charset="0"/>
              </a:rPr>
              <a:t>The citizen should not need to guess a department—or trust an AI decision.</a:t>
            </a:r>
          </a:p>
        </p:txBody>
      </p:sp>
      <p:cxnSp>
        <p:nvCxnSpPr>
          <p:cNvPr id="6" name="Straight Connector 5">
            <a:extLst>
              <a:ext uri="{FF2B5EF4-FFF2-40B4-BE49-F238E27FC236}">
                <a16:creationId xmlns:a16="http://schemas.microsoft.com/office/drawing/2014/main" id="{CEE69147-1B9F-8518-25F3-768C986EAB6E}"/>
              </a:ext>
            </a:extLst>
          </p:cNvPr>
          <p:cNvCxnSpPr/>
          <p:nvPr/>
        </p:nvCxnSpPr>
        <p:spPr>
          <a:xfrm>
            <a:off x="533400" y="6426200"/>
            <a:ext cx="111252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20E8274-DB86-9076-E70B-ED082F7BDD96}"/>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60756B"/>
                </a:solidFill>
                <a:latin typeface="Aptos" panose="020B0004020202020204" pitchFamily="34" charset="0"/>
              </a:rPr>
              <a:t>MOSHKELTI   /   AI QUEST 2026   /   next.society()</a:t>
            </a:r>
            <a:endParaRPr lang="en-US" sz="900" b="1">
              <a:solidFill>
                <a:srgbClr val="60756B"/>
              </a:solidFill>
              <a:latin typeface="Aptos" panose="020B0004020202020204" pitchFamily="34" charset="0"/>
            </a:endParaRPr>
          </a:p>
        </p:txBody>
      </p:sp>
      <p:sp>
        <p:nvSpPr>
          <p:cNvPr id="8" name="TextBox 7">
            <a:extLst>
              <a:ext uri="{FF2B5EF4-FFF2-40B4-BE49-F238E27FC236}">
                <a16:creationId xmlns:a16="http://schemas.microsoft.com/office/drawing/2014/main" id="{57D5F774-F43B-B9E3-A79A-54E2F2A724FE}"/>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60756B"/>
                </a:solidFill>
                <a:latin typeface="Aptos" panose="020B0004020202020204" pitchFamily="34" charset="0"/>
              </a:rPr>
              <a:t>03 / 08</a:t>
            </a:r>
          </a:p>
        </p:txBody>
      </p:sp>
      <p:sp>
        <p:nvSpPr>
          <p:cNvPr id="9" name="Rectangle: Rounded Corners 8">
            <a:extLst>
              <a:ext uri="{FF2B5EF4-FFF2-40B4-BE49-F238E27FC236}">
                <a16:creationId xmlns:a16="http://schemas.microsoft.com/office/drawing/2014/main" id="{65E46ACA-64CF-1FAF-A301-9693A6DAC6B7}"/>
              </a:ext>
            </a:extLst>
          </p:cNvPr>
          <p:cNvSpPr/>
          <p:nvPr/>
        </p:nvSpPr>
        <p:spPr>
          <a:xfrm>
            <a:off x="533400" y="2755900"/>
            <a:ext cx="2552700" cy="26924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C303C47A-0CE6-69B5-4054-E8BA237B7D49}"/>
              </a:ext>
            </a:extLst>
          </p:cNvPr>
          <p:cNvSpPr txBox="1"/>
          <p:nvPr/>
        </p:nvSpPr>
        <p:spPr>
          <a:xfrm>
            <a:off x="762000" y="2984499"/>
            <a:ext cx="2032000" cy="520700"/>
          </a:xfrm>
          <a:prstGeom prst="rect">
            <a:avLst/>
          </a:prstGeom>
          <a:noFill/>
        </p:spPr>
        <p:txBody>
          <a:bodyPr vert="horz" wrap="square" lIns="0" tIns="0" rIns="0" bIns="0" rtlCol="0">
            <a:noAutofit/>
          </a:bodyPr>
          <a:lstStyle/>
          <a:p>
            <a:pPr>
              <a:spcAft>
                <a:spcPts val="400"/>
              </a:spcAft>
            </a:pPr>
            <a:r>
              <a:rPr lang="en-US" sz="3000" b="1">
                <a:solidFill>
                  <a:srgbClr val="CC582D"/>
                </a:solidFill>
                <a:latin typeface="Aptos" panose="020B0004020202020204" pitchFamily="34" charset="0"/>
              </a:rPr>
              <a:t>01</a:t>
            </a:r>
          </a:p>
        </p:txBody>
      </p:sp>
      <p:sp>
        <p:nvSpPr>
          <p:cNvPr id="11" name="TextBox 10">
            <a:extLst>
              <a:ext uri="{FF2B5EF4-FFF2-40B4-BE49-F238E27FC236}">
                <a16:creationId xmlns:a16="http://schemas.microsoft.com/office/drawing/2014/main" id="{1AE2FD36-4EDC-5859-EB29-5EB9BBA8A5EE}"/>
              </a:ext>
            </a:extLst>
          </p:cNvPr>
          <p:cNvSpPr txBox="1"/>
          <p:nvPr/>
        </p:nvSpPr>
        <p:spPr>
          <a:xfrm>
            <a:off x="762000" y="3657599"/>
            <a:ext cx="2159000" cy="381000"/>
          </a:xfrm>
          <a:prstGeom prst="rect">
            <a:avLst/>
          </a:prstGeom>
          <a:noFill/>
        </p:spPr>
        <p:txBody>
          <a:bodyPr vert="horz" wrap="square" lIns="0" tIns="0" rIns="0" bIns="0" rtlCol="0">
            <a:noAutofit/>
          </a:bodyPr>
          <a:lstStyle/>
          <a:p>
            <a:pPr>
              <a:spcAft>
                <a:spcPts val="400"/>
              </a:spcAft>
            </a:pPr>
            <a:r>
              <a:rPr lang="en-US" sz="1900" b="1">
                <a:solidFill>
                  <a:srgbClr val="203D33"/>
                </a:solidFill>
                <a:latin typeface="Aptos" panose="020B0004020202020204" pitchFamily="34" charset="0"/>
              </a:rPr>
              <a:t>REPORT</a:t>
            </a:r>
          </a:p>
        </p:txBody>
      </p:sp>
      <p:sp>
        <p:nvSpPr>
          <p:cNvPr id="12" name="TextBox 11">
            <a:extLst>
              <a:ext uri="{FF2B5EF4-FFF2-40B4-BE49-F238E27FC236}">
                <a16:creationId xmlns:a16="http://schemas.microsoft.com/office/drawing/2014/main" id="{E7981039-08A5-E8AE-291A-5EA697A749A5}"/>
              </a:ext>
            </a:extLst>
          </p:cNvPr>
          <p:cNvSpPr txBox="1"/>
          <p:nvPr/>
        </p:nvSpPr>
        <p:spPr>
          <a:xfrm>
            <a:off x="762000" y="4254499"/>
            <a:ext cx="2146300" cy="1054100"/>
          </a:xfrm>
          <a:prstGeom prst="rect">
            <a:avLst/>
          </a:prstGeom>
          <a:noFill/>
        </p:spPr>
        <p:txBody>
          <a:bodyPr vert="horz" wrap="square" lIns="0" tIns="0" rIns="0" bIns="0" rtlCol="0">
            <a:noAutofit/>
          </a:bodyPr>
          <a:lstStyle/>
          <a:p>
            <a:pPr>
              <a:spcAft>
                <a:spcPts val="400"/>
              </a:spcAft>
            </a:pPr>
            <a:r>
              <a:rPr lang="en-US" sz="1500">
                <a:solidFill>
                  <a:srgbClr val="60756B"/>
                </a:solidFill>
                <a:latin typeface="Aptos" panose="020B0004020202020204" pitchFamily="34" charset="0"/>
              </a:rPr>
              <a:t>Arabic or English
Map-selected location
Private images</a:t>
            </a:r>
          </a:p>
        </p:txBody>
      </p:sp>
      <p:sp>
        <p:nvSpPr>
          <p:cNvPr id="13" name="Rectangle: Rounded Corners 12">
            <a:extLst>
              <a:ext uri="{FF2B5EF4-FFF2-40B4-BE49-F238E27FC236}">
                <a16:creationId xmlns:a16="http://schemas.microsoft.com/office/drawing/2014/main" id="{2E93D6BC-DD19-4CF5-3326-60634C5EFBA9}"/>
              </a:ext>
            </a:extLst>
          </p:cNvPr>
          <p:cNvSpPr/>
          <p:nvPr/>
        </p:nvSpPr>
        <p:spPr>
          <a:xfrm>
            <a:off x="3390900" y="2755900"/>
            <a:ext cx="2552700" cy="26924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E2457C86-44F3-D3BE-D1A2-3C5D2DD10FB0}"/>
              </a:ext>
            </a:extLst>
          </p:cNvPr>
          <p:cNvSpPr txBox="1"/>
          <p:nvPr/>
        </p:nvSpPr>
        <p:spPr>
          <a:xfrm>
            <a:off x="3619500" y="2984499"/>
            <a:ext cx="2032000" cy="520700"/>
          </a:xfrm>
          <a:prstGeom prst="rect">
            <a:avLst/>
          </a:prstGeom>
          <a:noFill/>
        </p:spPr>
        <p:txBody>
          <a:bodyPr vert="horz" wrap="square" lIns="0" tIns="0" rIns="0" bIns="0" rtlCol="0">
            <a:noAutofit/>
          </a:bodyPr>
          <a:lstStyle/>
          <a:p>
            <a:pPr>
              <a:spcAft>
                <a:spcPts val="400"/>
              </a:spcAft>
            </a:pPr>
            <a:r>
              <a:rPr lang="en-US" sz="3000" b="1">
                <a:solidFill>
                  <a:srgbClr val="CC582D"/>
                </a:solidFill>
                <a:latin typeface="Aptos" panose="020B0004020202020204" pitchFamily="34" charset="0"/>
              </a:rPr>
              <a:t>02</a:t>
            </a:r>
          </a:p>
        </p:txBody>
      </p:sp>
      <p:sp>
        <p:nvSpPr>
          <p:cNvPr id="15" name="TextBox 14">
            <a:extLst>
              <a:ext uri="{FF2B5EF4-FFF2-40B4-BE49-F238E27FC236}">
                <a16:creationId xmlns:a16="http://schemas.microsoft.com/office/drawing/2014/main" id="{D171FF8F-C5B5-E873-50D5-956EA475ADE4}"/>
              </a:ext>
            </a:extLst>
          </p:cNvPr>
          <p:cNvSpPr txBox="1"/>
          <p:nvPr/>
        </p:nvSpPr>
        <p:spPr>
          <a:xfrm>
            <a:off x="3619500" y="3657599"/>
            <a:ext cx="2159000" cy="381000"/>
          </a:xfrm>
          <a:prstGeom prst="rect">
            <a:avLst/>
          </a:prstGeom>
          <a:noFill/>
        </p:spPr>
        <p:txBody>
          <a:bodyPr vert="horz" wrap="square" lIns="0" tIns="0" rIns="0" bIns="0" rtlCol="0">
            <a:noAutofit/>
          </a:bodyPr>
          <a:lstStyle/>
          <a:p>
            <a:pPr>
              <a:spcAft>
                <a:spcPts val="400"/>
              </a:spcAft>
            </a:pPr>
            <a:r>
              <a:rPr lang="en-US" sz="1900" b="1">
                <a:solidFill>
                  <a:srgbClr val="203D33"/>
                </a:solidFill>
                <a:latin typeface="Aptos" panose="020B0004020202020204" pitchFamily="34" charset="0"/>
              </a:rPr>
              <a:t>ASSIST</a:t>
            </a:r>
          </a:p>
        </p:txBody>
      </p:sp>
      <p:sp>
        <p:nvSpPr>
          <p:cNvPr id="16" name="TextBox 15">
            <a:extLst>
              <a:ext uri="{FF2B5EF4-FFF2-40B4-BE49-F238E27FC236}">
                <a16:creationId xmlns:a16="http://schemas.microsoft.com/office/drawing/2014/main" id="{A6ABC708-08A2-0BA5-2C6E-BD56FEC860FD}"/>
              </a:ext>
            </a:extLst>
          </p:cNvPr>
          <p:cNvSpPr txBox="1"/>
          <p:nvPr/>
        </p:nvSpPr>
        <p:spPr>
          <a:xfrm>
            <a:off x="3619500" y="4254499"/>
            <a:ext cx="2146300" cy="1054100"/>
          </a:xfrm>
          <a:prstGeom prst="rect">
            <a:avLst/>
          </a:prstGeom>
          <a:noFill/>
        </p:spPr>
        <p:txBody>
          <a:bodyPr vert="horz" wrap="square" lIns="0" tIns="0" rIns="0" bIns="0" rtlCol="0">
            <a:noAutofit/>
          </a:bodyPr>
          <a:lstStyle/>
          <a:p>
            <a:pPr>
              <a:spcAft>
                <a:spcPts val="400"/>
              </a:spcAft>
            </a:pPr>
            <a:r>
              <a:rPr lang="en-US" sz="1500">
                <a:solidFill>
                  <a:srgbClr val="60756B"/>
                </a:solidFill>
                <a:latin typeface="Aptos" panose="020B0004020202020204" pitchFamily="34" charset="0"/>
              </a:rPr>
              <a:t>Suggest a category
Ask for missing details
Validate the output</a:t>
            </a:r>
          </a:p>
        </p:txBody>
      </p:sp>
      <p:sp>
        <p:nvSpPr>
          <p:cNvPr id="17" name="Rectangle: Rounded Corners 16">
            <a:extLst>
              <a:ext uri="{FF2B5EF4-FFF2-40B4-BE49-F238E27FC236}">
                <a16:creationId xmlns:a16="http://schemas.microsoft.com/office/drawing/2014/main" id="{7F73D3AF-575B-9DF0-884B-3553C7EA0B3B}"/>
              </a:ext>
            </a:extLst>
          </p:cNvPr>
          <p:cNvSpPr/>
          <p:nvPr/>
        </p:nvSpPr>
        <p:spPr>
          <a:xfrm>
            <a:off x="6248400" y="2755900"/>
            <a:ext cx="2552700" cy="26924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4300929-962F-379B-7E10-F48FC77E3A84}"/>
              </a:ext>
            </a:extLst>
          </p:cNvPr>
          <p:cNvSpPr txBox="1"/>
          <p:nvPr/>
        </p:nvSpPr>
        <p:spPr>
          <a:xfrm>
            <a:off x="6477000" y="2984499"/>
            <a:ext cx="2032000" cy="520700"/>
          </a:xfrm>
          <a:prstGeom prst="rect">
            <a:avLst/>
          </a:prstGeom>
          <a:noFill/>
        </p:spPr>
        <p:txBody>
          <a:bodyPr vert="horz" wrap="square" lIns="0" tIns="0" rIns="0" bIns="0" rtlCol="0">
            <a:noAutofit/>
          </a:bodyPr>
          <a:lstStyle/>
          <a:p>
            <a:pPr>
              <a:spcAft>
                <a:spcPts val="400"/>
              </a:spcAft>
            </a:pPr>
            <a:r>
              <a:rPr lang="en-US" sz="3000" b="1">
                <a:solidFill>
                  <a:srgbClr val="CC582D"/>
                </a:solidFill>
                <a:latin typeface="Aptos" panose="020B0004020202020204" pitchFamily="34" charset="0"/>
              </a:rPr>
              <a:t>03</a:t>
            </a:r>
          </a:p>
        </p:txBody>
      </p:sp>
      <p:sp>
        <p:nvSpPr>
          <p:cNvPr id="19" name="TextBox 18">
            <a:extLst>
              <a:ext uri="{FF2B5EF4-FFF2-40B4-BE49-F238E27FC236}">
                <a16:creationId xmlns:a16="http://schemas.microsoft.com/office/drawing/2014/main" id="{1F427E02-A365-C615-1991-CFD9DD0D748F}"/>
              </a:ext>
            </a:extLst>
          </p:cNvPr>
          <p:cNvSpPr txBox="1"/>
          <p:nvPr/>
        </p:nvSpPr>
        <p:spPr>
          <a:xfrm>
            <a:off x="6477000" y="3657599"/>
            <a:ext cx="2159000" cy="381000"/>
          </a:xfrm>
          <a:prstGeom prst="rect">
            <a:avLst/>
          </a:prstGeom>
          <a:noFill/>
        </p:spPr>
        <p:txBody>
          <a:bodyPr vert="horz" wrap="square" lIns="0" tIns="0" rIns="0" bIns="0" rtlCol="0">
            <a:noAutofit/>
          </a:bodyPr>
          <a:lstStyle/>
          <a:p>
            <a:pPr>
              <a:spcAft>
                <a:spcPts val="400"/>
              </a:spcAft>
            </a:pPr>
            <a:r>
              <a:rPr lang="en-US" sz="1900" b="1">
                <a:solidFill>
                  <a:srgbClr val="203D33"/>
                </a:solidFill>
                <a:latin typeface="Aptos" panose="020B0004020202020204" pitchFamily="34" charset="0"/>
              </a:rPr>
              <a:t>REVIEW</a:t>
            </a:r>
          </a:p>
        </p:txBody>
      </p:sp>
      <p:sp>
        <p:nvSpPr>
          <p:cNvPr id="20" name="TextBox 19">
            <a:extLst>
              <a:ext uri="{FF2B5EF4-FFF2-40B4-BE49-F238E27FC236}">
                <a16:creationId xmlns:a16="http://schemas.microsoft.com/office/drawing/2014/main" id="{C3EF57B7-3285-D0C9-F598-EA924F0FA760}"/>
              </a:ext>
            </a:extLst>
          </p:cNvPr>
          <p:cNvSpPr txBox="1"/>
          <p:nvPr/>
        </p:nvSpPr>
        <p:spPr>
          <a:xfrm>
            <a:off x="6477000" y="4254499"/>
            <a:ext cx="2146300" cy="1054100"/>
          </a:xfrm>
          <a:prstGeom prst="rect">
            <a:avLst/>
          </a:prstGeom>
          <a:noFill/>
        </p:spPr>
        <p:txBody>
          <a:bodyPr vert="horz" wrap="square" lIns="0" tIns="0" rIns="0" bIns="0" rtlCol="0">
            <a:noAutofit/>
          </a:bodyPr>
          <a:lstStyle/>
          <a:p>
            <a:pPr>
              <a:spcAft>
                <a:spcPts val="400"/>
              </a:spcAft>
            </a:pPr>
            <a:r>
              <a:rPr lang="en-US" sz="1500">
                <a:solidFill>
                  <a:srgbClr val="60756B"/>
                </a:solidFill>
                <a:latin typeface="Aptos" panose="020B0004020202020204" pitchFamily="34" charset="0"/>
              </a:rPr>
              <a:t>Verify jurisdiction
Select an authority
Explain the decision</a:t>
            </a:r>
          </a:p>
        </p:txBody>
      </p:sp>
      <p:sp>
        <p:nvSpPr>
          <p:cNvPr id="21" name="Rectangle: Rounded Corners 20">
            <a:extLst>
              <a:ext uri="{FF2B5EF4-FFF2-40B4-BE49-F238E27FC236}">
                <a16:creationId xmlns:a16="http://schemas.microsoft.com/office/drawing/2014/main" id="{192A2FDF-54E4-049B-8AA8-5DD7C9049629}"/>
              </a:ext>
            </a:extLst>
          </p:cNvPr>
          <p:cNvSpPr/>
          <p:nvPr/>
        </p:nvSpPr>
        <p:spPr>
          <a:xfrm>
            <a:off x="9105900" y="2755900"/>
            <a:ext cx="2552700" cy="26924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A27C22C0-DCA7-769D-3DBC-B6F0927EDA74}"/>
              </a:ext>
            </a:extLst>
          </p:cNvPr>
          <p:cNvSpPr txBox="1"/>
          <p:nvPr/>
        </p:nvSpPr>
        <p:spPr>
          <a:xfrm>
            <a:off x="9334500" y="2984499"/>
            <a:ext cx="2032000" cy="520700"/>
          </a:xfrm>
          <a:prstGeom prst="rect">
            <a:avLst/>
          </a:prstGeom>
          <a:noFill/>
        </p:spPr>
        <p:txBody>
          <a:bodyPr vert="horz" wrap="square" lIns="0" tIns="0" rIns="0" bIns="0" rtlCol="0">
            <a:noAutofit/>
          </a:bodyPr>
          <a:lstStyle/>
          <a:p>
            <a:pPr>
              <a:spcAft>
                <a:spcPts val="400"/>
              </a:spcAft>
            </a:pPr>
            <a:r>
              <a:rPr lang="en-US" sz="3000" b="1">
                <a:solidFill>
                  <a:srgbClr val="CC582D"/>
                </a:solidFill>
                <a:latin typeface="Aptos" panose="020B0004020202020204" pitchFamily="34" charset="0"/>
              </a:rPr>
              <a:t>04</a:t>
            </a:r>
          </a:p>
        </p:txBody>
      </p:sp>
      <p:sp>
        <p:nvSpPr>
          <p:cNvPr id="23" name="TextBox 22">
            <a:extLst>
              <a:ext uri="{FF2B5EF4-FFF2-40B4-BE49-F238E27FC236}">
                <a16:creationId xmlns:a16="http://schemas.microsoft.com/office/drawing/2014/main" id="{2A541A91-A288-C5D0-749E-127EF348CB39}"/>
              </a:ext>
            </a:extLst>
          </p:cNvPr>
          <p:cNvSpPr txBox="1"/>
          <p:nvPr/>
        </p:nvSpPr>
        <p:spPr>
          <a:xfrm>
            <a:off x="9334500" y="3657599"/>
            <a:ext cx="2159000" cy="381000"/>
          </a:xfrm>
          <a:prstGeom prst="rect">
            <a:avLst/>
          </a:prstGeom>
          <a:noFill/>
        </p:spPr>
        <p:txBody>
          <a:bodyPr vert="horz" wrap="square" lIns="0" tIns="0" rIns="0" bIns="0" rtlCol="0">
            <a:noAutofit/>
          </a:bodyPr>
          <a:lstStyle/>
          <a:p>
            <a:pPr>
              <a:spcAft>
                <a:spcPts val="400"/>
              </a:spcAft>
            </a:pPr>
            <a:r>
              <a:rPr lang="en-US" sz="1900" b="1">
                <a:solidFill>
                  <a:srgbClr val="203D33"/>
                </a:solidFill>
                <a:latin typeface="Aptos" panose="020B0004020202020204" pitchFamily="34" charset="0"/>
              </a:rPr>
              <a:t>TRACK</a:t>
            </a:r>
          </a:p>
        </p:txBody>
      </p:sp>
      <p:sp>
        <p:nvSpPr>
          <p:cNvPr id="24" name="TextBox 23">
            <a:extLst>
              <a:ext uri="{FF2B5EF4-FFF2-40B4-BE49-F238E27FC236}">
                <a16:creationId xmlns:a16="http://schemas.microsoft.com/office/drawing/2014/main" id="{3C589A46-655F-7961-F9B5-1D99CDCF2963}"/>
              </a:ext>
            </a:extLst>
          </p:cNvPr>
          <p:cNvSpPr txBox="1"/>
          <p:nvPr/>
        </p:nvSpPr>
        <p:spPr>
          <a:xfrm>
            <a:off x="9334500" y="4254499"/>
            <a:ext cx="2146300" cy="1054100"/>
          </a:xfrm>
          <a:prstGeom prst="rect">
            <a:avLst/>
          </a:prstGeom>
          <a:noFill/>
        </p:spPr>
        <p:txBody>
          <a:bodyPr vert="horz" wrap="square" lIns="0" tIns="0" rIns="0" bIns="0" rtlCol="0">
            <a:noAutofit/>
          </a:bodyPr>
          <a:lstStyle/>
          <a:p>
            <a:pPr>
              <a:spcAft>
                <a:spcPts val="400"/>
              </a:spcAft>
            </a:pPr>
            <a:r>
              <a:rPr lang="en-US" sz="1500">
                <a:solidFill>
                  <a:srgbClr val="60756B"/>
                </a:solidFill>
                <a:latin typeface="Aptos" panose="020B0004020202020204" pitchFamily="34" charset="0"/>
              </a:rPr>
              <a:t>Status &amp; history
Read-only access
Separate appeals</a:t>
            </a:r>
          </a:p>
        </p:txBody>
      </p:sp>
      <p:cxnSp>
        <p:nvCxnSpPr>
          <p:cNvPr id="25" name="Straight Connector 24">
            <a:extLst>
              <a:ext uri="{FF2B5EF4-FFF2-40B4-BE49-F238E27FC236}">
                <a16:creationId xmlns:a16="http://schemas.microsoft.com/office/drawing/2014/main" id="{0BF88042-9D7B-E750-1E1D-4905148FB708}"/>
              </a:ext>
            </a:extLst>
          </p:cNvPr>
          <p:cNvCxnSpPr/>
          <p:nvPr/>
        </p:nvCxnSpPr>
        <p:spPr>
          <a:xfrm>
            <a:off x="3136900" y="3429000"/>
            <a:ext cx="165100" cy="0"/>
          </a:xfrm>
          <a:prstGeom prst="line">
            <a:avLst/>
          </a:prstGeom>
          <a:ln w="25400">
            <a:solidFill>
              <a:srgbClr val="CC582D"/>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A7969CC3-B66F-B864-1105-7DAF1FA0B287}"/>
              </a:ext>
            </a:extLst>
          </p:cNvPr>
          <p:cNvCxnSpPr/>
          <p:nvPr/>
        </p:nvCxnSpPr>
        <p:spPr>
          <a:xfrm>
            <a:off x="5994400" y="3429000"/>
            <a:ext cx="165100" cy="0"/>
          </a:xfrm>
          <a:prstGeom prst="line">
            <a:avLst/>
          </a:prstGeom>
          <a:ln w="25400">
            <a:solidFill>
              <a:srgbClr val="CC582D"/>
            </a:solidFill>
            <a:tailEnd type="arrow"/>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D722797-F1CA-BAA9-E922-6A7113FE1304}"/>
              </a:ext>
            </a:extLst>
          </p:cNvPr>
          <p:cNvCxnSpPr/>
          <p:nvPr/>
        </p:nvCxnSpPr>
        <p:spPr>
          <a:xfrm>
            <a:off x="8851900" y="3429000"/>
            <a:ext cx="165100" cy="0"/>
          </a:xfrm>
          <a:prstGeom prst="line">
            <a:avLst/>
          </a:prstGeom>
          <a:ln w="25400">
            <a:solidFill>
              <a:srgbClr val="CC582D"/>
            </a:solidFill>
            <a:tailEnd type="arrow"/>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7797860D-D9A5-D6BE-8823-69A20DA4E838}"/>
              </a:ext>
            </a:extLst>
          </p:cNvPr>
          <p:cNvSpPr txBox="1"/>
          <p:nvPr/>
        </p:nvSpPr>
        <p:spPr>
          <a:xfrm>
            <a:off x="533400" y="5854699"/>
            <a:ext cx="11125200" cy="304800"/>
          </a:xfrm>
          <a:prstGeom prst="rect">
            <a:avLst/>
          </a:prstGeom>
          <a:noFill/>
        </p:spPr>
        <p:txBody>
          <a:bodyPr vert="horz" wrap="square" lIns="0" tIns="0" rIns="0" bIns="0" rtlCol="0">
            <a:noAutofit/>
          </a:bodyPr>
          <a:lstStyle/>
          <a:p>
            <a:pPr>
              <a:spcAft>
                <a:spcPts val="400"/>
              </a:spcAft>
            </a:pPr>
            <a:r>
              <a:rPr lang="en-US" sz="1600" b="1">
                <a:solidFill>
                  <a:srgbClr val="173F35"/>
                </a:solidFill>
                <a:latin typeface="Aptos" panose="020B0004020202020204" pitchFamily="34" charset="0"/>
              </a:rPr>
              <a:t>Private by default. Human-selected routing. No automatic government dispatch.</a:t>
            </a:r>
          </a:p>
        </p:txBody>
      </p:sp>
    </p:spTree>
    <p:extLst>
      <p:ext uri="{BB962C8B-B14F-4D97-AF65-F5344CB8AC3E}">
        <p14:creationId xmlns:p14="http://schemas.microsoft.com/office/powerpoint/2010/main" val="35805609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7C29D-8377-4CEF-82B8-89E60B15EF66}"/>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51C8ECB-12D4-FCCA-EFED-E3567170D965}"/>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C5DDCB"/>
                </a:solidFill>
                <a:latin typeface="Aptos" panose="020B0004020202020204" pitchFamily="34" charset="0"/>
              </a:rPr>
              <a:t>03 / LIVE DEMO · SYNTHETIC DATA ONLY</a:t>
            </a:r>
          </a:p>
        </p:txBody>
      </p:sp>
      <p:sp>
        <p:nvSpPr>
          <p:cNvPr id="4" name="TextBox 3">
            <a:extLst>
              <a:ext uri="{FF2B5EF4-FFF2-40B4-BE49-F238E27FC236}">
                <a16:creationId xmlns:a16="http://schemas.microsoft.com/office/drawing/2014/main" id="{9E84B678-7BEC-8336-F9CC-4EE030820341}"/>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FFFFFF"/>
                </a:solidFill>
                <a:latin typeface="Aptos" panose="020B0004020202020204" pitchFamily="34" charset="0"/>
              </a:rPr>
              <a:t>From a road issue to a visible next step.</a:t>
            </a:r>
          </a:p>
        </p:txBody>
      </p:sp>
      <p:sp>
        <p:nvSpPr>
          <p:cNvPr id="5" name="TextBox 4">
            <a:extLst>
              <a:ext uri="{FF2B5EF4-FFF2-40B4-BE49-F238E27FC236}">
                <a16:creationId xmlns:a16="http://schemas.microsoft.com/office/drawing/2014/main" id="{F6F2CF1E-B50B-7E47-36BB-AEB1410F4A80}"/>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C5DDCB"/>
                </a:solidFill>
                <a:latin typeface="Aptos" panose="020B0004020202020204" pitchFamily="34" charset="0"/>
              </a:rPr>
              <a:t>One synthetic case: citizen submission → assisted review → citizen follow-up.</a:t>
            </a:r>
          </a:p>
        </p:txBody>
      </p:sp>
      <p:cxnSp>
        <p:nvCxnSpPr>
          <p:cNvPr id="6" name="Straight Connector 5">
            <a:extLst>
              <a:ext uri="{FF2B5EF4-FFF2-40B4-BE49-F238E27FC236}">
                <a16:creationId xmlns:a16="http://schemas.microsoft.com/office/drawing/2014/main" id="{B318E9B2-808C-7B8C-A54A-A72BF4C1FBE4}"/>
              </a:ext>
            </a:extLst>
          </p:cNvPr>
          <p:cNvCxnSpPr/>
          <p:nvPr/>
        </p:nvCxnSpPr>
        <p:spPr>
          <a:xfrm>
            <a:off x="533400" y="6426200"/>
            <a:ext cx="11125200" cy="0"/>
          </a:xfrm>
          <a:prstGeom prst="line">
            <a:avLst/>
          </a:prstGeom>
          <a:ln w="12700">
            <a:solidFill>
              <a:srgbClr val="47635A"/>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B3D96CC-06D4-A924-ED2F-0188DD3E32EB}"/>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C5DDCB"/>
                </a:solidFill>
                <a:latin typeface="Aptos" panose="020B0004020202020204" pitchFamily="34" charset="0"/>
              </a:rPr>
              <a:t>MOSHKELTI   /   AI QUEST 2026   /   next.society()</a:t>
            </a:r>
            <a:endParaRPr lang="en-US" sz="900" b="1">
              <a:solidFill>
                <a:srgbClr val="C5DDCB"/>
              </a:solidFill>
              <a:latin typeface="Aptos" panose="020B0004020202020204" pitchFamily="34" charset="0"/>
            </a:endParaRPr>
          </a:p>
        </p:txBody>
      </p:sp>
      <p:sp>
        <p:nvSpPr>
          <p:cNvPr id="8" name="TextBox 7">
            <a:extLst>
              <a:ext uri="{FF2B5EF4-FFF2-40B4-BE49-F238E27FC236}">
                <a16:creationId xmlns:a16="http://schemas.microsoft.com/office/drawing/2014/main" id="{61A8D33E-FC0D-C211-DC89-86001C99FD43}"/>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C5DDCB"/>
                </a:solidFill>
                <a:latin typeface="Aptos" panose="020B0004020202020204" pitchFamily="34" charset="0"/>
              </a:rPr>
              <a:t>04 / 08</a:t>
            </a:r>
          </a:p>
        </p:txBody>
      </p:sp>
      <p:sp>
        <p:nvSpPr>
          <p:cNvPr id="9" name="Rectangle: Rounded Corners 8">
            <a:extLst>
              <a:ext uri="{FF2B5EF4-FFF2-40B4-BE49-F238E27FC236}">
                <a16:creationId xmlns:a16="http://schemas.microsoft.com/office/drawing/2014/main" id="{B03890C6-7889-1DAE-7D8B-3D26D350A804}"/>
              </a:ext>
            </a:extLst>
          </p:cNvPr>
          <p:cNvSpPr/>
          <p:nvPr/>
        </p:nvSpPr>
        <p:spPr>
          <a:xfrm>
            <a:off x="533400" y="2679700"/>
            <a:ext cx="571500" cy="571500"/>
          </a:xfrm>
          <a:prstGeom prst="roundRect">
            <a:avLst>
              <a:gd name="adj" fmla="val 13000"/>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3E8FF5B-64F3-2498-9E14-04975B80ECCE}"/>
              </a:ext>
            </a:extLst>
          </p:cNvPr>
          <p:cNvSpPr txBox="1"/>
          <p:nvPr/>
        </p:nvSpPr>
        <p:spPr>
          <a:xfrm>
            <a:off x="533400" y="2743199"/>
            <a:ext cx="571500" cy="444500"/>
          </a:xfrm>
          <a:prstGeom prst="rect">
            <a:avLst/>
          </a:prstGeom>
          <a:noFill/>
        </p:spPr>
        <p:txBody>
          <a:bodyPr vert="horz" wrap="square" lIns="0" tIns="0" rIns="0" bIns="0" rtlCol="0">
            <a:noAutofit/>
          </a:bodyPr>
          <a:lstStyle/>
          <a:p>
            <a:pPr algn="ctr">
              <a:spcAft>
                <a:spcPts val="400"/>
              </a:spcAft>
            </a:pPr>
            <a:r>
              <a:rPr lang="en-US" sz="2500" b="1">
                <a:solidFill>
                  <a:srgbClr val="FFFFFF"/>
                </a:solidFill>
                <a:latin typeface="Aptos" panose="020B0004020202020204" pitchFamily="34" charset="0"/>
              </a:rPr>
              <a:t>1</a:t>
            </a:r>
          </a:p>
        </p:txBody>
      </p:sp>
      <p:sp>
        <p:nvSpPr>
          <p:cNvPr id="11" name="TextBox 10">
            <a:extLst>
              <a:ext uri="{FF2B5EF4-FFF2-40B4-BE49-F238E27FC236}">
                <a16:creationId xmlns:a16="http://schemas.microsoft.com/office/drawing/2014/main" id="{84819594-2160-262C-1912-B47913F075C1}"/>
              </a:ext>
            </a:extLst>
          </p:cNvPr>
          <p:cNvSpPr txBox="1"/>
          <p:nvPr/>
        </p:nvSpPr>
        <p:spPr>
          <a:xfrm>
            <a:off x="1320800" y="2654299"/>
            <a:ext cx="5219700" cy="431800"/>
          </a:xfrm>
          <a:prstGeom prst="rect">
            <a:avLst/>
          </a:prstGeom>
          <a:noFill/>
        </p:spPr>
        <p:txBody>
          <a:bodyPr vert="horz" wrap="square" lIns="0" tIns="0" rIns="0" bIns="0" rtlCol="0">
            <a:noAutofit/>
          </a:bodyPr>
          <a:lstStyle/>
          <a:p>
            <a:pPr>
              <a:spcAft>
                <a:spcPts val="400"/>
              </a:spcAft>
            </a:pPr>
            <a:r>
              <a:rPr lang="en-US" sz="2300" b="1">
                <a:solidFill>
                  <a:srgbClr val="FFFFFF"/>
                </a:solidFill>
                <a:latin typeface="Aptos" panose="020B0004020202020204" pitchFamily="34" charset="0"/>
              </a:rPr>
              <a:t>Citizen</a:t>
            </a:r>
          </a:p>
        </p:txBody>
      </p:sp>
      <p:sp>
        <p:nvSpPr>
          <p:cNvPr id="12" name="TextBox 11">
            <a:extLst>
              <a:ext uri="{FF2B5EF4-FFF2-40B4-BE49-F238E27FC236}">
                <a16:creationId xmlns:a16="http://schemas.microsoft.com/office/drawing/2014/main" id="{4E53E879-B545-A9A0-42DF-DE1908744756}"/>
              </a:ext>
            </a:extLst>
          </p:cNvPr>
          <p:cNvSpPr txBox="1"/>
          <p:nvPr/>
        </p:nvSpPr>
        <p:spPr>
          <a:xfrm>
            <a:off x="1320800" y="3098799"/>
            <a:ext cx="5219700" cy="546100"/>
          </a:xfrm>
          <a:prstGeom prst="rect">
            <a:avLst/>
          </a:prstGeom>
          <a:noFill/>
        </p:spPr>
        <p:txBody>
          <a:bodyPr vert="horz" wrap="square" lIns="0" tIns="0" rIns="0" bIns="0" rtlCol="0">
            <a:noAutofit/>
          </a:bodyPr>
          <a:lstStyle/>
          <a:p>
            <a:pPr>
              <a:spcAft>
                <a:spcPts val="400"/>
              </a:spcAft>
            </a:pPr>
            <a:r>
              <a:rPr lang="en-US" sz="1600">
                <a:solidFill>
                  <a:srgbClr val="C5DDCB"/>
                </a:solidFill>
                <a:latin typeface="Aptos" panose="020B0004020202020204" pitchFamily="34" charset="0"/>
              </a:rPr>
              <a:t>Arabic form, issue location, consent, tracking code.</a:t>
            </a:r>
          </a:p>
        </p:txBody>
      </p:sp>
      <p:sp>
        <p:nvSpPr>
          <p:cNvPr id="13" name="Rectangle: Rounded Corners 12">
            <a:extLst>
              <a:ext uri="{FF2B5EF4-FFF2-40B4-BE49-F238E27FC236}">
                <a16:creationId xmlns:a16="http://schemas.microsoft.com/office/drawing/2014/main" id="{4C699E2A-D905-EF90-490D-B7E93ED7755C}"/>
              </a:ext>
            </a:extLst>
          </p:cNvPr>
          <p:cNvSpPr/>
          <p:nvPr/>
        </p:nvSpPr>
        <p:spPr>
          <a:xfrm>
            <a:off x="533400" y="3822700"/>
            <a:ext cx="571500" cy="571500"/>
          </a:xfrm>
          <a:prstGeom prst="roundRect">
            <a:avLst>
              <a:gd name="adj" fmla="val 13000"/>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B809B9C-4D38-1431-CCA2-37D31DDC792F}"/>
              </a:ext>
            </a:extLst>
          </p:cNvPr>
          <p:cNvSpPr txBox="1"/>
          <p:nvPr/>
        </p:nvSpPr>
        <p:spPr>
          <a:xfrm>
            <a:off x="533400" y="3886199"/>
            <a:ext cx="571500" cy="444500"/>
          </a:xfrm>
          <a:prstGeom prst="rect">
            <a:avLst/>
          </a:prstGeom>
          <a:noFill/>
        </p:spPr>
        <p:txBody>
          <a:bodyPr vert="horz" wrap="square" lIns="0" tIns="0" rIns="0" bIns="0" rtlCol="0">
            <a:noAutofit/>
          </a:bodyPr>
          <a:lstStyle/>
          <a:p>
            <a:pPr algn="ctr">
              <a:spcAft>
                <a:spcPts val="400"/>
              </a:spcAft>
            </a:pPr>
            <a:r>
              <a:rPr lang="en-US" sz="2500" b="1">
                <a:solidFill>
                  <a:srgbClr val="FFFFFF"/>
                </a:solidFill>
                <a:latin typeface="Aptos" panose="020B0004020202020204" pitchFamily="34" charset="0"/>
              </a:rPr>
              <a:t>2</a:t>
            </a:r>
          </a:p>
        </p:txBody>
      </p:sp>
      <p:sp>
        <p:nvSpPr>
          <p:cNvPr id="15" name="TextBox 14">
            <a:extLst>
              <a:ext uri="{FF2B5EF4-FFF2-40B4-BE49-F238E27FC236}">
                <a16:creationId xmlns:a16="http://schemas.microsoft.com/office/drawing/2014/main" id="{E6924A32-A7F6-1A87-309F-5CE41DCDF7DA}"/>
              </a:ext>
            </a:extLst>
          </p:cNvPr>
          <p:cNvSpPr txBox="1"/>
          <p:nvPr/>
        </p:nvSpPr>
        <p:spPr>
          <a:xfrm>
            <a:off x="1320800" y="3797299"/>
            <a:ext cx="5219700" cy="431800"/>
          </a:xfrm>
          <a:prstGeom prst="rect">
            <a:avLst/>
          </a:prstGeom>
          <a:noFill/>
        </p:spPr>
        <p:txBody>
          <a:bodyPr vert="horz" wrap="square" lIns="0" tIns="0" rIns="0" bIns="0" rtlCol="0">
            <a:noAutofit/>
          </a:bodyPr>
          <a:lstStyle/>
          <a:p>
            <a:pPr>
              <a:spcAft>
                <a:spcPts val="400"/>
              </a:spcAft>
            </a:pPr>
            <a:r>
              <a:rPr lang="en-US" sz="2300" b="1">
                <a:solidFill>
                  <a:srgbClr val="FFFFFF"/>
                </a:solidFill>
                <a:latin typeface="Aptos" panose="020B0004020202020204" pitchFamily="34" charset="0"/>
              </a:rPr>
              <a:t>Reviewer</a:t>
            </a:r>
          </a:p>
        </p:txBody>
      </p:sp>
      <p:sp>
        <p:nvSpPr>
          <p:cNvPr id="16" name="TextBox 15">
            <a:extLst>
              <a:ext uri="{FF2B5EF4-FFF2-40B4-BE49-F238E27FC236}">
                <a16:creationId xmlns:a16="http://schemas.microsoft.com/office/drawing/2014/main" id="{EF0CEB16-4BD0-10D6-4CE0-0813532199DE}"/>
              </a:ext>
            </a:extLst>
          </p:cNvPr>
          <p:cNvSpPr txBox="1"/>
          <p:nvPr/>
        </p:nvSpPr>
        <p:spPr>
          <a:xfrm>
            <a:off x="1320800" y="4241799"/>
            <a:ext cx="5219700" cy="546100"/>
          </a:xfrm>
          <a:prstGeom prst="rect">
            <a:avLst/>
          </a:prstGeom>
          <a:noFill/>
        </p:spPr>
        <p:txBody>
          <a:bodyPr vert="horz" wrap="square" lIns="0" tIns="0" rIns="0" bIns="0" rtlCol="0">
            <a:noAutofit/>
          </a:bodyPr>
          <a:lstStyle/>
          <a:p>
            <a:pPr>
              <a:spcAft>
                <a:spcPts val="400"/>
              </a:spcAft>
            </a:pPr>
            <a:r>
              <a:rPr lang="en-US" sz="1600">
                <a:solidFill>
                  <a:srgbClr val="C5DDCB"/>
                </a:solidFill>
                <a:latin typeface="Aptos" panose="020B0004020202020204" pitchFamily="34" charset="0"/>
              </a:rPr>
              <a:t>Recorded analysis, private evidence, authority selection.</a:t>
            </a:r>
          </a:p>
        </p:txBody>
      </p:sp>
      <p:sp>
        <p:nvSpPr>
          <p:cNvPr id="17" name="Rectangle: Rounded Corners 16">
            <a:extLst>
              <a:ext uri="{FF2B5EF4-FFF2-40B4-BE49-F238E27FC236}">
                <a16:creationId xmlns:a16="http://schemas.microsoft.com/office/drawing/2014/main" id="{B8B3597D-A5D7-3613-6FE7-C8EE3A6346C3}"/>
              </a:ext>
            </a:extLst>
          </p:cNvPr>
          <p:cNvSpPr/>
          <p:nvPr/>
        </p:nvSpPr>
        <p:spPr>
          <a:xfrm>
            <a:off x="533400" y="4965700"/>
            <a:ext cx="571500" cy="571500"/>
          </a:xfrm>
          <a:prstGeom prst="roundRect">
            <a:avLst>
              <a:gd name="adj" fmla="val 13000"/>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B95A402-EB96-9916-507A-B10C5285CC98}"/>
              </a:ext>
            </a:extLst>
          </p:cNvPr>
          <p:cNvSpPr txBox="1"/>
          <p:nvPr/>
        </p:nvSpPr>
        <p:spPr>
          <a:xfrm>
            <a:off x="533400" y="5029199"/>
            <a:ext cx="571500" cy="444500"/>
          </a:xfrm>
          <a:prstGeom prst="rect">
            <a:avLst/>
          </a:prstGeom>
          <a:noFill/>
        </p:spPr>
        <p:txBody>
          <a:bodyPr vert="horz" wrap="square" lIns="0" tIns="0" rIns="0" bIns="0" rtlCol="0">
            <a:noAutofit/>
          </a:bodyPr>
          <a:lstStyle/>
          <a:p>
            <a:pPr algn="ctr">
              <a:spcAft>
                <a:spcPts val="400"/>
              </a:spcAft>
            </a:pPr>
            <a:r>
              <a:rPr lang="en-US" sz="2500" b="1">
                <a:solidFill>
                  <a:srgbClr val="FFFFFF"/>
                </a:solidFill>
                <a:latin typeface="Aptos" panose="020B0004020202020204" pitchFamily="34" charset="0"/>
              </a:rPr>
              <a:t>3</a:t>
            </a:r>
          </a:p>
        </p:txBody>
      </p:sp>
      <p:sp>
        <p:nvSpPr>
          <p:cNvPr id="19" name="TextBox 18">
            <a:extLst>
              <a:ext uri="{FF2B5EF4-FFF2-40B4-BE49-F238E27FC236}">
                <a16:creationId xmlns:a16="http://schemas.microsoft.com/office/drawing/2014/main" id="{41CBBFAD-5DE0-2023-10B4-B8F68F95E030}"/>
              </a:ext>
            </a:extLst>
          </p:cNvPr>
          <p:cNvSpPr txBox="1"/>
          <p:nvPr/>
        </p:nvSpPr>
        <p:spPr>
          <a:xfrm>
            <a:off x="1320800" y="4940299"/>
            <a:ext cx="5219700" cy="431800"/>
          </a:xfrm>
          <a:prstGeom prst="rect">
            <a:avLst/>
          </a:prstGeom>
          <a:noFill/>
        </p:spPr>
        <p:txBody>
          <a:bodyPr vert="horz" wrap="square" lIns="0" tIns="0" rIns="0" bIns="0" rtlCol="0">
            <a:noAutofit/>
          </a:bodyPr>
          <a:lstStyle/>
          <a:p>
            <a:pPr>
              <a:spcAft>
                <a:spcPts val="400"/>
              </a:spcAft>
            </a:pPr>
            <a:r>
              <a:rPr lang="en-US" sz="2300" b="1">
                <a:solidFill>
                  <a:srgbClr val="FFFFFF"/>
                </a:solidFill>
                <a:latin typeface="Aptos" panose="020B0004020202020204" pitchFamily="34" charset="0"/>
              </a:rPr>
              <a:t>Follow-up</a:t>
            </a:r>
          </a:p>
        </p:txBody>
      </p:sp>
      <p:sp>
        <p:nvSpPr>
          <p:cNvPr id="20" name="TextBox 19">
            <a:extLst>
              <a:ext uri="{FF2B5EF4-FFF2-40B4-BE49-F238E27FC236}">
                <a16:creationId xmlns:a16="http://schemas.microsoft.com/office/drawing/2014/main" id="{7EBD4A59-A9C3-A974-687F-13BAD514E0B0}"/>
              </a:ext>
            </a:extLst>
          </p:cNvPr>
          <p:cNvSpPr txBox="1"/>
          <p:nvPr/>
        </p:nvSpPr>
        <p:spPr>
          <a:xfrm>
            <a:off x="1320800" y="5384799"/>
            <a:ext cx="5219700" cy="546100"/>
          </a:xfrm>
          <a:prstGeom prst="rect">
            <a:avLst/>
          </a:prstGeom>
          <a:noFill/>
        </p:spPr>
        <p:txBody>
          <a:bodyPr vert="horz" wrap="square" lIns="0" tIns="0" rIns="0" bIns="0" rtlCol="0">
            <a:noAutofit/>
          </a:bodyPr>
          <a:lstStyle/>
          <a:p>
            <a:pPr>
              <a:spcAft>
                <a:spcPts val="400"/>
              </a:spcAft>
            </a:pPr>
            <a:r>
              <a:rPr lang="en-US" sz="1600">
                <a:solidFill>
                  <a:srgbClr val="C5DDCB"/>
                </a:solidFill>
                <a:latin typeface="Aptos" panose="020B0004020202020204" pitchFamily="34" charset="0"/>
              </a:rPr>
              <a:t>Reasoned decision and status. Delivery is simulated.</a:t>
            </a:r>
          </a:p>
        </p:txBody>
      </p:sp>
      <p:sp>
        <p:nvSpPr>
          <p:cNvPr id="21" name="Rectangle: Rounded Corners 20">
            <a:extLst>
              <a:ext uri="{FF2B5EF4-FFF2-40B4-BE49-F238E27FC236}">
                <a16:creationId xmlns:a16="http://schemas.microsoft.com/office/drawing/2014/main" id="{841136B5-1054-943F-188A-960E52AF1F9F}"/>
              </a:ext>
            </a:extLst>
          </p:cNvPr>
          <p:cNvSpPr/>
          <p:nvPr/>
        </p:nvSpPr>
        <p:spPr>
          <a:xfrm>
            <a:off x="7302500" y="2616200"/>
            <a:ext cx="4356100" cy="3517900"/>
          </a:xfrm>
          <a:prstGeom prst="roundRect">
            <a:avLst>
              <a:gd name="adj" fmla="val 13000"/>
            </a:avLst>
          </a:prstGeom>
          <a:solidFill>
            <a:srgbClr val="F5F2EA"/>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EC14A8D-9CC6-8E5A-FDF0-FC4C3937161D}"/>
              </a:ext>
            </a:extLst>
          </p:cNvPr>
          <p:cNvSpPr txBox="1"/>
          <p:nvPr/>
        </p:nvSpPr>
        <p:spPr>
          <a:xfrm>
            <a:off x="7581900" y="2857500"/>
            <a:ext cx="3771900" cy="254000"/>
          </a:xfrm>
          <a:prstGeom prst="rect">
            <a:avLst/>
          </a:prstGeom>
          <a:noFill/>
        </p:spPr>
        <p:txBody>
          <a:bodyPr vert="horz" wrap="square" lIns="0" tIns="0" rIns="0" bIns="0" rtlCol="0">
            <a:noAutofit/>
          </a:bodyPr>
          <a:lstStyle/>
          <a:p>
            <a:pPr>
              <a:spcAft>
                <a:spcPts val="400"/>
              </a:spcAft>
            </a:pPr>
            <a:r>
              <a:rPr lang="en-US" sz="1000" b="1">
                <a:solidFill>
                  <a:srgbClr val="CC582D"/>
                </a:solidFill>
                <a:latin typeface="Aptos" panose="020B0004020202020204" pitchFamily="34" charset="0"/>
              </a:rPr>
              <a:t>ILLUSTRATIVE CASE · NOT A SCREENSHOT</a:t>
            </a:r>
          </a:p>
        </p:txBody>
      </p:sp>
      <p:sp>
        <p:nvSpPr>
          <p:cNvPr id="23" name="TextBox 22">
            <a:extLst>
              <a:ext uri="{FF2B5EF4-FFF2-40B4-BE49-F238E27FC236}">
                <a16:creationId xmlns:a16="http://schemas.microsoft.com/office/drawing/2014/main" id="{24297D06-01DE-FF76-C657-2679C834B16B}"/>
              </a:ext>
            </a:extLst>
          </p:cNvPr>
          <p:cNvSpPr txBox="1"/>
          <p:nvPr/>
        </p:nvSpPr>
        <p:spPr>
          <a:xfrm>
            <a:off x="7581900" y="3441699"/>
            <a:ext cx="3771900" cy="558800"/>
          </a:xfrm>
          <a:prstGeom prst="rect">
            <a:avLst/>
          </a:prstGeom>
          <a:noFill/>
        </p:spPr>
        <p:txBody>
          <a:bodyPr vert="horz" wrap="square" lIns="0" tIns="0" rIns="0" bIns="0" rtlCol="0">
            <a:noAutofit/>
          </a:bodyPr>
          <a:lstStyle/>
          <a:p>
            <a:pPr algn="l" rtl="1">
              <a:spcAft>
                <a:spcPts val="400"/>
              </a:spcAft>
            </a:pPr>
            <a:r>
              <a:rPr lang="ar-JO" sz="2500" b="1">
                <a:solidFill>
                  <a:srgbClr val="203D33"/>
                </a:solidFill>
                <a:latin typeface="Tahoma" panose="020B0604030504040204" pitchFamily="34" charset="0"/>
              </a:rPr>
              <a:t>حفرة في طريق عام</a:t>
            </a:r>
            <a:endParaRPr lang="en-US" sz="2500" b="1">
              <a:solidFill>
                <a:srgbClr val="203D33"/>
              </a:solidFill>
              <a:latin typeface="Tahoma" panose="020B0604030504040204" pitchFamily="34" charset="0"/>
            </a:endParaRPr>
          </a:p>
        </p:txBody>
      </p:sp>
      <p:sp>
        <p:nvSpPr>
          <p:cNvPr id="24" name="TextBox 23">
            <a:extLst>
              <a:ext uri="{FF2B5EF4-FFF2-40B4-BE49-F238E27FC236}">
                <a16:creationId xmlns:a16="http://schemas.microsoft.com/office/drawing/2014/main" id="{10198646-AB26-067B-5AB8-B87F457564E9}"/>
              </a:ext>
            </a:extLst>
          </p:cNvPr>
          <p:cNvSpPr txBox="1"/>
          <p:nvPr/>
        </p:nvSpPr>
        <p:spPr>
          <a:xfrm>
            <a:off x="7581900" y="4203699"/>
            <a:ext cx="3771900" cy="304800"/>
          </a:xfrm>
          <a:prstGeom prst="rect">
            <a:avLst/>
          </a:prstGeom>
          <a:noFill/>
        </p:spPr>
        <p:txBody>
          <a:bodyPr vert="horz" wrap="square" lIns="0" tIns="0" rIns="0" bIns="0" rtlCol="0">
            <a:noAutofit/>
          </a:bodyPr>
          <a:lstStyle/>
          <a:p>
            <a:pPr>
              <a:spcAft>
                <a:spcPts val="400"/>
              </a:spcAft>
            </a:pPr>
            <a:r>
              <a:rPr lang="en-US" sz="1400">
                <a:solidFill>
                  <a:srgbClr val="60756B"/>
                </a:solidFill>
                <a:latin typeface="Aptos" panose="020B0004020202020204" pitchFamily="34" charset="0"/>
              </a:rPr>
              <a:t>Amman  /  Roads  /  Private evidence</a:t>
            </a:r>
          </a:p>
        </p:txBody>
      </p:sp>
      <p:cxnSp>
        <p:nvCxnSpPr>
          <p:cNvPr id="25" name="Straight Connector 24">
            <a:extLst>
              <a:ext uri="{FF2B5EF4-FFF2-40B4-BE49-F238E27FC236}">
                <a16:creationId xmlns:a16="http://schemas.microsoft.com/office/drawing/2014/main" id="{46958EF0-948C-AE0C-DF88-29DC3B812169}"/>
              </a:ext>
            </a:extLst>
          </p:cNvPr>
          <p:cNvCxnSpPr/>
          <p:nvPr/>
        </p:nvCxnSpPr>
        <p:spPr>
          <a:xfrm>
            <a:off x="7581900" y="4673600"/>
            <a:ext cx="37846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3552250-5377-4C57-7B4A-7D49D6399CAF}"/>
              </a:ext>
            </a:extLst>
          </p:cNvPr>
          <p:cNvSpPr txBox="1"/>
          <p:nvPr/>
        </p:nvSpPr>
        <p:spPr>
          <a:xfrm>
            <a:off x="7581900" y="4965699"/>
            <a:ext cx="3771900" cy="952500"/>
          </a:xfrm>
          <a:prstGeom prst="rect">
            <a:avLst/>
          </a:prstGeom>
          <a:noFill/>
        </p:spPr>
        <p:txBody>
          <a:bodyPr vert="horz" wrap="square" lIns="0" tIns="0" rIns="0" bIns="0" rtlCol="0">
            <a:noAutofit/>
          </a:bodyPr>
          <a:lstStyle/>
          <a:p>
            <a:pPr>
              <a:spcAft>
                <a:spcPts val="400"/>
              </a:spcAft>
            </a:pPr>
            <a:r>
              <a:rPr lang="en-US" sz="1600" b="1">
                <a:solidFill>
                  <a:srgbClr val="203D33"/>
                </a:solidFill>
                <a:latin typeface="Aptos" panose="020B0004020202020204" pitchFamily="34" charset="0"/>
              </a:rPr>
              <a:t>Processing → Human review
Decision → Simulated acknowledgement</a:t>
            </a:r>
          </a:p>
        </p:txBody>
      </p:sp>
    </p:spTree>
    <p:extLst>
      <p:ext uri="{BB962C8B-B14F-4D97-AF65-F5344CB8AC3E}">
        <p14:creationId xmlns:p14="http://schemas.microsoft.com/office/powerpoint/2010/main" val="160452689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27732E-CAC3-F072-BEBF-D72B262A5E97}"/>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E158ABC-7775-6C47-FFE5-498482F8B6CD}"/>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60756B"/>
                </a:solidFill>
                <a:latin typeface="Aptos" panose="020B0004020202020204" pitchFamily="34" charset="0"/>
              </a:rPr>
              <a:t>04 / AI WHERE IT HELPS—NOT WHERE IT GOVERNS</a:t>
            </a:r>
          </a:p>
        </p:txBody>
      </p:sp>
      <p:sp>
        <p:nvSpPr>
          <p:cNvPr id="4" name="TextBox 3">
            <a:extLst>
              <a:ext uri="{FF2B5EF4-FFF2-40B4-BE49-F238E27FC236}">
                <a16:creationId xmlns:a16="http://schemas.microsoft.com/office/drawing/2014/main" id="{F48FF023-D391-F878-49EB-F7226B70ECF5}"/>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203D33"/>
                </a:solidFill>
                <a:latin typeface="Aptos" panose="020B0004020202020204" pitchFamily="34" charset="0"/>
              </a:rPr>
              <a:t>Gemini recommends.
Laravel validates. A human decides.</a:t>
            </a:r>
          </a:p>
        </p:txBody>
      </p:sp>
      <p:sp>
        <p:nvSpPr>
          <p:cNvPr id="5" name="TextBox 4">
            <a:extLst>
              <a:ext uri="{FF2B5EF4-FFF2-40B4-BE49-F238E27FC236}">
                <a16:creationId xmlns:a16="http://schemas.microsoft.com/office/drawing/2014/main" id="{236FCF7D-DA6F-E5B6-3B3F-24A125AEB378}"/>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60756B"/>
                </a:solidFill>
                <a:latin typeface="Aptos" panose="020B0004020202020204" pitchFamily="34" charset="0"/>
              </a:rPr>
              <a:t>Text analysis, not a chatbot, computer vision or a fine-tuned model.</a:t>
            </a:r>
          </a:p>
        </p:txBody>
      </p:sp>
      <p:cxnSp>
        <p:nvCxnSpPr>
          <p:cNvPr id="6" name="Straight Connector 5">
            <a:extLst>
              <a:ext uri="{FF2B5EF4-FFF2-40B4-BE49-F238E27FC236}">
                <a16:creationId xmlns:a16="http://schemas.microsoft.com/office/drawing/2014/main" id="{76BE9203-8438-8C1A-73C2-D275D69E0EB8}"/>
              </a:ext>
            </a:extLst>
          </p:cNvPr>
          <p:cNvCxnSpPr/>
          <p:nvPr/>
        </p:nvCxnSpPr>
        <p:spPr>
          <a:xfrm>
            <a:off x="533400" y="6426200"/>
            <a:ext cx="111252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9E19CD0A-A415-5443-D2FD-500432F4FFB7}"/>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60756B"/>
                </a:solidFill>
                <a:latin typeface="Aptos" panose="020B0004020202020204" pitchFamily="34" charset="0"/>
              </a:rPr>
              <a:t>MOSHKELTI   /   AI QUEST 2026   /   next.society()</a:t>
            </a:r>
            <a:endParaRPr lang="en-US" sz="900" b="1">
              <a:solidFill>
                <a:srgbClr val="60756B"/>
              </a:solidFill>
              <a:latin typeface="Aptos" panose="020B0004020202020204" pitchFamily="34" charset="0"/>
            </a:endParaRPr>
          </a:p>
        </p:txBody>
      </p:sp>
      <p:sp>
        <p:nvSpPr>
          <p:cNvPr id="8" name="TextBox 7">
            <a:extLst>
              <a:ext uri="{FF2B5EF4-FFF2-40B4-BE49-F238E27FC236}">
                <a16:creationId xmlns:a16="http://schemas.microsoft.com/office/drawing/2014/main" id="{81868DF5-E3FE-B26D-400B-29A9A9FA0415}"/>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60756B"/>
                </a:solidFill>
                <a:latin typeface="Aptos" panose="020B0004020202020204" pitchFamily="34" charset="0"/>
              </a:rPr>
              <a:t>05 / 08</a:t>
            </a:r>
          </a:p>
        </p:txBody>
      </p:sp>
      <p:sp>
        <p:nvSpPr>
          <p:cNvPr id="9" name="Rectangle: Rounded Corners 8">
            <a:extLst>
              <a:ext uri="{FF2B5EF4-FFF2-40B4-BE49-F238E27FC236}">
                <a16:creationId xmlns:a16="http://schemas.microsoft.com/office/drawing/2014/main" id="{851AEC9D-3B46-E017-56DC-F4D2B4398521}"/>
              </a:ext>
            </a:extLst>
          </p:cNvPr>
          <p:cNvSpPr/>
          <p:nvPr/>
        </p:nvSpPr>
        <p:spPr>
          <a:xfrm>
            <a:off x="533400" y="2806700"/>
            <a:ext cx="3530600" cy="28829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06E79E5-0948-43B9-8DD3-AA8108A3EDFF}"/>
              </a:ext>
            </a:extLst>
          </p:cNvPr>
          <p:cNvSpPr txBox="1"/>
          <p:nvPr/>
        </p:nvSpPr>
        <p:spPr>
          <a:xfrm>
            <a:off x="787400" y="30352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INPUT · CONSENT REQUIRED</a:t>
            </a:r>
          </a:p>
        </p:txBody>
      </p:sp>
      <p:sp>
        <p:nvSpPr>
          <p:cNvPr id="11" name="TextBox 10">
            <a:extLst>
              <a:ext uri="{FF2B5EF4-FFF2-40B4-BE49-F238E27FC236}">
                <a16:creationId xmlns:a16="http://schemas.microsoft.com/office/drawing/2014/main" id="{1B04382B-06CD-AD2A-CCDE-687D3C21496E}"/>
              </a:ext>
            </a:extLst>
          </p:cNvPr>
          <p:cNvSpPr txBox="1"/>
          <p:nvPr/>
        </p:nvSpPr>
        <p:spPr>
          <a:xfrm>
            <a:off x="787400" y="34543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Minimized text</a:t>
            </a:r>
          </a:p>
        </p:txBody>
      </p:sp>
      <p:sp>
        <p:nvSpPr>
          <p:cNvPr id="12" name="TextBox 11">
            <a:extLst>
              <a:ext uri="{FF2B5EF4-FFF2-40B4-BE49-F238E27FC236}">
                <a16:creationId xmlns:a16="http://schemas.microsoft.com/office/drawing/2014/main" id="{0C1AFC96-B8E2-3BA5-159E-4440A999EB2D}"/>
              </a:ext>
            </a:extLst>
          </p:cNvPr>
          <p:cNvSpPr txBox="1"/>
          <p:nvPr/>
        </p:nvSpPr>
        <p:spPr>
          <a:xfrm>
            <a:off x="787400" y="4394199"/>
            <a:ext cx="3022600" cy="11176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Title, description, category and governorate. Best-effort redaction; no account identity or photos.</a:t>
            </a:r>
          </a:p>
        </p:txBody>
      </p:sp>
      <p:sp>
        <p:nvSpPr>
          <p:cNvPr id="13" name="Rectangle: Rounded Corners 12">
            <a:extLst>
              <a:ext uri="{FF2B5EF4-FFF2-40B4-BE49-F238E27FC236}">
                <a16:creationId xmlns:a16="http://schemas.microsoft.com/office/drawing/2014/main" id="{87D8D6F1-7BBE-E311-A2F5-F13FA1B5679D}"/>
              </a:ext>
            </a:extLst>
          </p:cNvPr>
          <p:cNvSpPr/>
          <p:nvPr/>
        </p:nvSpPr>
        <p:spPr>
          <a:xfrm>
            <a:off x="4330700" y="2806700"/>
            <a:ext cx="3530600" cy="28829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17DDC38-0B9B-AF2F-E66E-B82F4BCD83D1}"/>
              </a:ext>
            </a:extLst>
          </p:cNvPr>
          <p:cNvSpPr txBox="1"/>
          <p:nvPr/>
        </p:nvSpPr>
        <p:spPr>
          <a:xfrm>
            <a:off x="4584700" y="30352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OUTPUT · CHECKED</a:t>
            </a:r>
          </a:p>
        </p:txBody>
      </p:sp>
      <p:sp>
        <p:nvSpPr>
          <p:cNvPr id="15" name="TextBox 14">
            <a:extLst>
              <a:ext uri="{FF2B5EF4-FFF2-40B4-BE49-F238E27FC236}">
                <a16:creationId xmlns:a16="http://schemas.microsoft.com/office/drawing/2014/main" id="{EBBEF080-C781-97DA-992F-B4DD352C942B}"/>
              </a:ext>
            </a:extLst>
          </p:cNvPr>
          <p:cNvSpPr txBox="1"/>
          <p:nvPr/>
        </p:nvSpPr>
        <p:spPr>
          <a:xfrm>
            <a:off x="4584700" y="34543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Review suggestions</a:t>
            </a:r>
          </a:p>
        </p:txBody>
      </p:sp>
      <p:sp>
        <p:nvSpPr>
          <p:cNvPr id="16" name="TextBox 15">
            <a:extLst>
              <a:ext uri="{FF2B5EF4-FFF2-40B4-BE49-F238E27FC236}">
                <a16:creationId xmlns:a16="http://schemas.microsoft.com/office/drawing/2014/main" id="{CEEBED70-2F0E-EEAE-57DD-6729EBD25860}"/>
              </a:ext>
            </a:extLst>
          </p:cNvPr>
          <p:cNvSpPr txBox="1"/>
          <p:nvPr/>
        </p:nvSpPr>
        <p:spPr>
          <a:xfrm>
            <a:off x="4584700" y="4394199"/>
            <a:ext cx="3022600" cy="11176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Classification, severity, confidence and missing-information questions in Arabic + English.</a:t>
            </a:r>
          </a:p>
        </p:txBody>
      </p:sp>
      <p:sp>
        <p:nvSpPr>
          <p:cNvPr id="17" name="Rectangle: Rounded Corners 16">
            <a:extLst>
              <a:ext uri="{FF2B5EF4-FFF2-40B4-BE49-F238E27FC236}">
                <a16:creationId xmlns:a16="http://schemas.microsoft.com/office/drawing/2014/main" id="{498E28F8-5774-AD76-EE30-9ACD87411B0C}"/>
              </a:ext>
            </a:extLst>
          </p:cNvPr>
          <p:cNvSpPr/>
          <p:nvPr/>
        </p:nvSpPr>
        <p:spPr>
          <a:xfrm>
            <a:off x="8128000" y="2806700"/>
            <a:ext cx="3530600" cy="28829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0623D9D0-E1A0-A183-8003-7ACA6ECF4383}"/>
              </a:ext>
            </a:extLst>
          </p:cNvPr>
          <p:cNvSpPr txBox="1"/>
          <p:nvPr/>
        </p:nvSpPr>
        <p:spPr>
          <a:xfrm>
            <a:off x="8382000" y="30352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AUTHORITY · HUMAN</a:t>
            </a:r>
          </a:p>
        </p:txBody>
      </p:sp>
      <p:sp>
        <p:nvSpPr>
          <p:cNvPr id="19" name="TextBox 18">
            <a:extLst>
              <a:ext uri="{FF2B5EF4-FFF2-40B4-BE49-F238E27FC236}">
                <a16:creationId xmlns:a16="http://schemas.microsoft.com/office/drawing/2014/main" id="{48579717-897B-6570-D32B-53B5E9D1AE20}"/>
              </a:ext>
            </a:extLst>
          </p:cNvPr>
          <p:cNvSpPr txBox="1"/>
          <p:nvPr/>
        </p:nvSpPr>
        <p:spPr>
          <a:xfrm>
            <a:off x="8382000" y="34543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A safe next step</a:t>
            </a:r>
          </a:p>
        </p:txBody>
      </p:sp>
      <p:sp>
        <p:nvSpPr>
          <p:cNvPr id="20" name="TextBox 19">
            <a:extLst>
              <a:ext uri="{FF2B5EF4-FFF2-40B4-BE49-F238E27FC236}">
                <a16:creationId xmlns:a16="http://schemas.microsoft.com/office/drawing/2014/main" id="{B0D92DA5-CC14-3E41-0567-A93FBB6DF2E9}"/>
              </a:ext>
            </a:extLst>
          </p:cNvPr>
          <p:cNvSpPr txBox="1"/>
          <p:nvPr/>
        </p:nvSpPr>
        <p:spPr>
          <a:xfrm>
            <a:off x="8382000" y="4394199"/>
            <a:ext cx="3022600" cy="11176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Human review validates jurisdiction and decides. Unavailable or invalid AI output goes to review.</a:t>
            </a:r>
          </a:p>
        </p:txBody>
      </p:sp>
      <p:sp>
        <p:nvSpPr>
          <p:cNvPr id="21" name="TextBox 20">
            <a:extLst>
              <a:ext uri="{FF2B5EF4-FFF2-40B4-BE49-F238E27FC236}">
                <a16:creationId xmlns:a16="http://schemas.microsoft.com/office/drawing/2014/main" id="{B15047ED-3631-CE75-1654-0DB932236370}"/>
              </a:ext>
            </a:extLst>
          </p:cNvPr>
          <p:cNvSpPr txBox="1"/>
          <p:nvPr/>
        </p:nvSpPr>
        <p:spPr>
          <a:xfrm>
            <a:off x="533400" y="5892799"/>
            <a:ext cx="11125200" cy="304800"/>
          </a:xfrm>
          <a:prstGeom prst="rect">
            <a:avLst/>
          </a:prstGeom>
          <a:noFill/>
        </p:spPr>
        <p:txBody>
          <a:bodyPr vert="horz" wrap="square" lIns="0" tIns="0" rIns="0" bIns="0" rtlCol="0">
            <a:noAutofit/>
          </a:bodyPr>
          <a:lstStyle/>
          <a:p>
            <a:pPr>
              <a:spcAft>
                <a:spcPts val="400"/>
              </a:spcAft>
            </a:pPr>
            <a:r>
              <a:rPr lang="en-US" sz="1300">
                <a:solidFill>
                  <a:srgbClr val="60756B"/>
                </a:solidFill>
                <a:latin typeface="Aptos" panose="020B0004020202020204" pitchFamily="34" charset="0"/>
              </a:rPr>
              <a:t>No AI approval, banning, SQL execution, URL fetching or government dispatch. Confidence is not calibrated accuracy.</a:t>
            </a:r>
          </a:p>
        </p:txBody>
      </p:sp>
    </p:spTree>
    <p:extLst>
      <p:ext uri="{BB962C8B-B14F-4D97-AF65-F5344CB8AC3E}">
        <p14:creationId xmlns:p14="http://schemas.microsoft.com/office/powerpoint/2010/main" val="4105417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4791F0-2838-34A4-F4AA-F3553C98C78A}"/>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6ACB33C-BAA8-AE5F-5A6D-498F41368B0F}"/>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60756B"/>
                </a:solidFill>
                <a:latin typeface="Aptos" panose="020B0004020202020204" pitchFamily="34" charset="0"/>
              </a:rPr>
              <a:t>05 / IMPLEMENTED ARCHITECTURE &amp; ENGINEERING PROOF</a:t>
            </a:r>
          </a:p>
        </p:txBody>
      </p:sp>
      <p:sp>
        <p:nvSpPr>
          <p:cNvPr id="4" name="TextBox 3">
            <a:extLst>
              <a:ext uri="{FF2B5EF4-FFF2-40B4-BE49-F238E27FC236}">
                <a16:creationId xmlns:a16="http://schemas.microsoft.com/office/drawing/2014/main" id="{6DECF8D5-7D3C-B4C1-D35D-8011AF7E7536}"/>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203D33"/>
                </a:solidFill>
                <a:latin typeface="Aptos" panose="020B0004020202020204" pitchFamily="34" charset="0"/>
              </a:rPr>
              <a:t>One backend. No duplicated report logic.</a:t>
            </a:r>
          </a:p>
        </p:txBody>
      </p:sp>
      <p:sp>
        <p:nvSpPr>
          <p:cNvPr id="5" name="TextBox 4">
            <a:extLst>
              <a:ext uri="{FF2B5EF4-FFF2-40B4-BE49-F238E27FC236}">
                <a16:creationId xmlns:a16="http://schemas.microsoft.com/office/drawing/2014/main" id="{4F4380DC-7C84-4875-F599-21A019559091}"/>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60756B"/>
                </a:solidFill>
                <a:latin typeface="Aptos" panose="020B0004020202020204" pitchFamily="34" charset="0"/>
              </a:rPr>
              <a:t>Laravel 13 + PHP 8.3 · MySQL-compatible MariaDB · database queue · Java Android WebView</a:t>
            </a:r>
          </a:p>
        </p:txBody>
      </p:sp>
      <p:cxnSp>
        <p:nvCxnSpPr>
          <p:cNvPr id="6" name="Straight Connector 5">
            <a:extLst>
              <a:ext uri="{FF2B5EF4-FFF2-40B4-BE49-F238E27FC236}">
                <a16:creationId xmlns:a16="http://schemas.microsoft.com/office/drawing/2014/main" id="{22B985F7-1D97-B2FA-B0CD-76D167909956}"/>
              </a:ext>
            </a:extLst>
          </p:cNvPr>
          <p:cNvCxnSpPr/>
          <p:nvPr/>
        </p:nvCxnSpPr>
        <p:spPr>
          <a:xfrm>
            <a:off x="533400" y="6426200"/>
            <a:ext cx="111252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FFCE2CD0-BD1B-486B-F1BB-BF0BC9C33964}"/>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60756B"/>
                </a:solidFill>
                <a:latin typeface="Aptos" panose="020B0004020202020204" pitchFamily="34" charset="0"/>
              </a:rPr>
              <a:t>MOSHKELTI   /   AI QUEST 2026   /   next.society()</a:t>
            </a:r>
            <a:endParaRPr lang="en-US" sz="900" b="1">
              <a:solidFill>
                <a:srgbClr val="60756B"/>
              </a:solidFill>
              <a:latin typeface="Aptos" panose="020B0004020202020204" pitchFamily="34" charset="0"/>
            </a:endParaRPr>
          </a:p>
        </p:txBody>
      </p:sp>
      <p:sp>
        <p:nvSpPr>
          <p:cNvPr id="8" name="TextBox 7">
            <a:extLst>
              <a:ext uri="{FF2B5EF4-FFF2-40B4-BE49-F238E27FC236}">
                <a16:creationId xmlns:a16="http://schemas.microsoft.com/office/drawing/2014/main" id="{19959BDB-95AB-1DF3-89F3-BF054A1FAA50}"/>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60756B"/>
                </a:solidFill>
                <a:latin typeface="Aptos" panose="020B0004020202020204" pitchFamily="34" charset="0"/>
              </a:rPr>
              <a:t>06 / 08</a:t>
            </a:r>
          </a:p>
        </p:txBody>
      </p:sp>
      <p:sp>
        <p:nvSpPr>
          <p:cNvPr id="9" name="Rectangle: Rounded Corners 8">
            <a:extLst>
              <a:ext uri="{FF2B5EF4-FFF2-40B4-BE49-F238E27FC236}">
                <a16:creationId xmlns:a16="http://schemas.microsoft.com/office/drawing/2014/main" id="{F38D7DDC-467A-1724-212C-C645C4915E75}"/>
              </a:ext>
            </a:extLst>
          </p:cNvPr>
          <p:cNvSpPr/>
          <p:nvPr/>
        </p:nvSpPr>
        <p:spPr>
          <a:xfrm>
            <a:off x="533400" y="2679700"/>
            <a:ext cx="2552700" cy="10541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27DE89F4-680D-8FB4-8870-A3B837E7B7D9}"/>
              </a:ext>
            </a:extLst>
          </p:cNvPr>
          <p:cNvSpPr txBox="1"/>
          <p:nvPr/>
        </p:nvSpPr>
        <p:spPr>
          <a:xfrm>
            <a:off x="711200" y="2844799"/>
            <a:ext cx="2197100" cy="342900"/>
          </a:xfrm>
          <a:prstGeom prst="rect">
            <a:avLst/>
          </a:prstGeom>
          <a:noFill/>
        </p:spPr>
        <p:txBody>
          <a:bodyPr vert="horz" wrap="square" lIns="0" tIns="0" rIns="0" bIns="0" rtlCol="0">
            <a:noAutofit/>
          </a:bodyPr>
          <a:lstStyle/>
          <a:p>
            <a:pPr>
              <a:spcAft>
                <a:spcPts val="400"/>
              </a:spcAft>
            </a:pPr>
            <a:r>
              <a:rPr lang="en-US" sz="1700" b="1">
                <a:solidFill>
                  <a:srgbClr val="203D33"/>
                </a:solidFill>
                <a:latin typeface="Aptos" panose="020B0004020202020204" pitchFamily="34" charset="0"/>
              </a:rPr>
              <a:t>Citizen web + APK</a:t>
            </a:r>
          </a:p>
        </p:txBody>
      </p:sp>
      <p:sp>
        <p:nvSpPr>
          <p:cNvPr id="11" name="TextBox 10">
            <a:extLst>
              <a:ext uri="{FF2B5EF4-FFF2-40B4-BE49-F238E27FC236}">
                <a16:creationId xmlns:a16="http://schemas.microsoft.com/office/drawing/2014/main" id="{F4C6DE8D-4658-454E-0ABB-08A6D451E192}"/>
              </a:ext>
            </a:extLst>
          </p:cNvPr>
          <p:cNvSpPr txBox="1"/>
          <p:nvPr/>
        </p:nvSpPr>
        <p:spPr>
          <a:xfrm>
            <a:off x="711200" y="3314699"/>
            <a:ext cx="2197100" cy="317500"/>
          </a:xfrm>
          <a:prstGeom prst="rect">
            <a:avLst/>
          </a:prstGeom>
          <a:noFill/>
        </p:spPr>
        <p:txBody>
          <a:bodyPr vert="horz" wrap="square" lIns="0" tIns="0" rIns="0" bIns="0" rtlCol="0">
            <a:noAutofit/>
          </a:bodyPr>
          <a:lstStyle/>
          <a:p>
            <a:pPr>
              <a:spcAft>
                <a:spcPts val="400"/>
              </a:spcAft>
            </a:pPr>
            <a:r>
              <a:rPr lang="en-US" sz="1200">
                <a:solidFill>
                  <a:srgbClr val="60756B"/>
                </a:solidFill>
                <a:latin typeface="Aptos" panose="020B0004020202020204" pitchFamily="34" charset="0"/>
              </a:rPr>
              <a:t>Citizen-only HTTPS surface</a:t>
            </a:r>
          </a:p>
        </p:txBody>
      </p:sp>
      <p:sp>
        <p:nvSpPr>
          <p:cNvPr id="12" name="Rectangle: Rounded Corners 11">
            <a:extLst>
              <a:ext uri="{FF2B5EF4-FFF2-40B4-BE49-F238E27FC236}">
                <a16:creationId xmlns:a16="http://schemas.microsoft.com/office/drawing/2014/main" id="{435A6E6A-97A1-F56C-B707-87B0CA43F3D4}"/>
              </a:ext>
            </a:extLst>
          </p:cNvPr>
          <p:cNvSpPr/>
          <p:nvPr/>
        </p:nvSpPr>
        <p:spPr>
          <a:xfrm>
            <a:off x="3390900" y="2679700"/>
            <a:ext cx="2552700" cy="10541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36D3C70-8053-EAEB-DE79-835AFFE51CDF}"/>
              </a:ext>
            </a:extLst>
          </p:cNvPr>
          <p:cNvSpPr txBox="1"/>
          <p:nvPr/>
        </p:nvSpPr>
        <p:spPr>
          <a:xfrm>
            <a:off x="3568700" y="2844799"/>
            <a:ext cx="2197100" cy="342900"/>
          </a:xfrm>
          <a:prstGeom prst="rect">
            <a:avLst/>
          </a:prstGeom>
          <a:noFill/>
        </p:spPr>
        <p:txBody>
          <a:bodyPr vert="horz" wrap="square" lIns="0" tIns="0" rIns="0" bIns="0" rtlCol="0">
            <a:noAutofit/>
          </a:bodyPr>
          <a:lstStyle/>
          <a:p>
            <a:pPr>
              <a:spcAft>
                <a:spcPts val="400"/>
              </a:spcAft>
            </a:pPr>
            <a:r>
              <a:rPr lang="en-US" sz="1700" b="1">
                <a:solidFill>
                  <a:srgbClr val="203D33"/>
                </a:solidFill>
                <a:latin typeface="Aptos" panose="020B0004020202020204" pitchFamily="34" charset="0"/>
              </a:rPr>
              <a:t>Laravel</a:t>
            </a:r>
          </a:p>
        </p:txBody>
      </p:sp>
      <p:sp>
        <p:nvSpPr>
          <p:cNvPr id="14" name="TextBox 13">
            <a:extLst>
              <a:ext uri="{FF2B5EF4-FFF2-40B4-BE49-F238E27FC236}">
                <a16:creationId xmlns:a16="http://schemas.microsoft.com/office/drawing/2014/main" id="{E5888687-3C47-C7E9-A111-5D83BF8DAEF5}"/>
              </a:ext>
            </a:extLst>
          </p:cNvPr>
          <p:cNvSpPr txBox="1"/>
          <p:nvPr/>
        </p:nvSpPr>
        <p:spPr>
          <a:xfrm>
            <a:off x="3568700" y="3314699"/>
            <a:ext cx="2197100" cy="317500"/>
          </a:xfrm>
          <a:prstGeom prst="rect">
            <a:avLst/>
          </a:prstGeom>
          <a:noFill/>
        </p:spPr>
        <p:txBody>
          <a:bodyPr vert="horz" wrap="square" lIns="0" tIns="0" rIns="0" bIns="0" rtlCol="0">
            <a:noAutofit/>
          </a:bodyPr>
          <a:lstStyle/>
          <a:p>
            <a:pPr>
              <a:spcAft>
                <a:spcPts val="400"/>
              </a:spcAft>
            </a:pPr>
            <a:r>
              <a:rPr lang="en-US" sz="1200">
                <a:solidFill>
                  <a:srgbClr val="60756B"/>
                </a:solidFill>
                <a:latin typeface="Aptos" panose="020B0004020202020204" pitchFamily="34" charset="0"/>
              </a:rPr>
              <a:t>Policies · validation · versions</a:t>
            </a:r>
          </a:p>
        </p:txBody>
      </p:sp>
      <p:sp>
        <p:nvSpPr>
          <p:cNvPr id="15" name="Rectangle: Rounded Corners 14">
            <a:extLst>
              <a:ext uri="{FF2B5EF4-FFF2-40B4-BE49-F238E27FC236}">
                <a16:creationId xmlns:a16="http://schemas.microsoft.com/office/drawing/2014/main" id="{A020761C-48EC-B9F0-7458-074BA54A1C96}"/>
              </a:ext>
            </a:extLst>
          </p:cNvPr>
          <p:cNvSpPr/>
          <p:nvPr/>
        </p:nvSpPr>
        <p:spPr>
          <a:xfrm>
            <a:off x="6248400" y="2679700"/>
            <a:ext cx="2552700" cy="10541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51324E0-D3A3-4401-CE54-0009941ECA1C}"/>
              </a:ext>
            </a:extLst>
          </p:cNvPr>
          <p:cNvSpPr txBox="1"/>
          <p:nvPr/>
        </p:nvSpPr>
        <p:spPr>
          <a:xfrm>
            <a:off x="6426200" y="2844799"/>
            <a:ext cx="2197100" cy="342900"/>
          </a:xfrm>
          <a:prstGeom prst="rect">
            <a:avLst/>
          </a:prstGeom>
          <a:noFill/>
        </p:spPr>
        <p:txBody>
          <a:bodyPr vert="horz" wrap="square" lIns="0" tIns="0" rIns="0" bIns="0" rtlCol="0">
            <a:noAutofit/>
          </a:bodyPr>
          <a:lstStyle/>
          <a:p>
            <a:pPr>
              <a:spcAft>
                <a:spcPts val="400"/>
              </a:spcAft>
            </a:pPr>
            <a:r>
              <a:rPr lang="en-US" sz="1700" b="1">
                <a:solidFill>
                  <a:srgbClr val="203D33"/>
                </a:solidFill>
                <a:latin typeface="Aptos" panose="020B0004020202020204" pitchFamily="34" charset="0"/>
              </a:rPr>
              <a:t>Data + queue</a:t>
            </a:r>
          </a:p>
        </p:txBody>
      </p:sp>
      <p:sp>
        <p:nvSpPr>
          <p:cNvPr id="17" name="TextBox 16">
            <a:extLst>
              <a:ext uri="{FF2B5EF4-FFF2-40B4-BE49-F238E27FC236}">
                <a16:creationId xmlns:a16="http://schemas.microsoft.com/office/drawing/2014/main" id="{FC14F066-F3AB-A6F5-1A37-8BAC53C6A0C3}"/>
              </a:ext>
            </a:extLst>
          </p:cNvPr>
          <p:cNvSpPr txBox="1"/>
          <p:nvPr/>
        </p:nvSpPr>
        <p:spPr>
          <a:xfrm>
            <a:off x="6426200" y="3314699"/>
            <a:ext cx="2197100" cy="317500"/>
          </a:xfrm>
          <a:prstGeom prst="rect">
            <a:avLst/>
          </a:prstGeom>
          <a:noFill/>
        </p:spPr>
        <p:txBody>
          <a:bodyPr vert="horz" wrap="square" lIns="0" tIns="0" rIns="0" bIns="0" rtlCol="0">
            <a:noAutofit/>
          </a:bodyPr>
          <a:lstStyle/>
          <a:p>
            <a:pPr>
              <a:spcAft>
                <a:spcPts val="400"/>
              </a:spcAft>
            </a:pPr>
            <a:r>
              <a:rPr lang="en-US" sz="1200">
                <a:solidFill>
                  <a:srgbClr val="60756B"/>
                </a:solidFill>
                <a:latin typeface="Aptos" panose="020B0004020202020204" pitchFamily="34" charset="0"/>
              </a:rPr>
              <a:t>App DB + separate registry</a:t>
            </a:r>
          </a:p>
        </p:txBody>
      </p:sp>
      <p:sp>
        <p:nvSpPr>
          <p:cNvPr id="18" name="Rectangle: Rounded Corners 17">
            <a:extLst>
              <a:ext uri="{FF2B5EF4-FFF2-40B4-BE49-F238E27FC236}">
                <a16:creationId xmlns:a16="http://schemas.microsoft.com/office/drawing/2014/main" id="{ED89B00E-F5E4-FB89-D0E5-B41C2E997155}"/>
              </a:ext>
            </a:extLst>
          </p:cNvPr>
          <p:cNvSpPr/>
          <p:nvPr/>
        </p:nvSpPr>
        <p:spPr>
          <a:xfrm>
            <a:off x="9105900" y="2679700"/>
            <a:ext cx="2552700" cy="10541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31ED80EB-B5E0-9BB0-EB54-CADEB1480E89}"/>
              </a:ext>
            </a:extLst>
          </p:cNvPr>
          <p:cNvSpPr txBox="1"/>
          <p:nvPr/>
        </p:nvSpPr>
        <p:spPr>
          <a:xfrm>
            <a:off x="9283700" y="2844799"/>
            <a:ext cx="2197100" cy="342900"/>
          </a:xfrm>
          <a:prstGeom prst="rect">
            <a:avLst/>
          </a:prstGeom>
          <a:noFill/>
        </p:spPr>
        <p:txBody>
          <a:bodyPr vert="horz" wrap="square" lIns="0" tIns="0" rIns="0" bIns="0" rtlCol="0">
            <a:noAutofit/>
          </a:bodyPr>
          <a:lstStyle/>
          <a:p>
            <a:pPr>
              <a:spcAft>
                <a:spcPts val="400"/>
              </a:spcAft>
            </a:pPr>
            <a:r>
              <a:rPr lang="en-US" sz="1700" b="1">
                <a:solidFill>
                  <a:srgbClr val="203D33"/>
                </a:solidFill>
                <a:latin typeface="Aptos" panose="020B0004020202020204" pitchFamily="34" charset="0"/>
              </a:rPr>
              <a:t>Analysis + review</a:t>
            </a:r>
          </a:p>
        </p:txBody>
      </p:sp>
      <p:sp>
        <p:nvSpPr>
          <p:cNvPr id="20" name="TextBox 19">
            <a:extLst>
              <a:ext uri="{FF2B5EF4-FFF2-40B4-BE49-F238E27FC236}">
                <a16:creationId xmlns:a16="http://schemas.microsoft.com/office/drawing/2014/main" id="{B6DE8793-CB3D-0EAE-22C4-4C3E0C6D1618}"/>
              </a:ext>
            </a:extLst>
          </p:cNvPr>
          <p:cNvSpPr txBox="1"/>
          <p:nvPr/>
        </p:nvSpPr>
        <p:spPr>
          <a:xfrm>
            <a:off x="9283700" y="3314699"/>
            <a:ext cx="2197100" cy="317500"/>
          </a:xfrm>
          <a:prstGeom prst="rect">
            <a:avLst/>
          </a:prstGeom>
          <a:noFill/>
        </p:spPr>
        <p:txBody>
          <a:bodyPr vert="horz" wrap="square" lIns="0" tIns="0" rIns="0" bIns="0" rtlCol="0">
            <a:noAutofit/>
          </a:bodyPr>
          <a:lstStyle/>
          <a:p>
            <a:pPr>
              <a:spcAft>
                <a:spcPts val="400"/>
              </a:spcAft>
            </a:pPr>
            <a:r>
              <a:rPr lang="en-US" sz="1200">
                <a:solidFill>
                  <a:srgbClr val="60756B"/>
                </a:solidFill>
                <a:latin typeface="Aptos" panose="020B0004020202020204" pitchFamily="34" charset="0"/>
              </a:rPr>
              <a:t>Gemini → validated suggestion</a:t>
            </a:r>
          </a:p>
        </p:txBody>
      </p:sp>
      <p:cxnSp>
        <p:nvCxnSpPr>
          <p:cNvPr id="21" name="Straight Connector 20">
            <a:extLst>
              <a:ext uri="{FF2B5EF4-FFF2-40B4-BE49-F238E27FC236}">
                <a16:creationId xmlns:a16="http://schemas.microsoft.com/office/drawing/2014/main" id="{30DB5869-1096-A575-52D3-E71C55596BF0}"/>
              </a:ext>
            </a:extLst>
          </p:cNvPr>
          <p:cNvCxnSpPr/>
          <p:nvPr/>
        </p:nvCxnSpPr>
        <p:spPr>
          <a:xfrm>
            <a:off x="3136900" y="3200400"/>
            <a:ext cx="165100" cy="0"/>
          </a:xfrm>
          <a:prstGeom prst="line">
            <a:avLst/>
          </a:prstGeom>
          <a:ln w="25400">
            <a:solidFill>
              <a:srgbClr val="CC582D"/>
            </a:solidFill>
            <a:tailEnd type="arrow"/>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0CD4EDC8-CDBE-6F88-1044-3EF1B8549884}"/>
              </a:ext>
            </a:extLst>
          </p:cNvPr>
          <p:cNvCxnSpPr/>
          <p:nvPr/>
        </p:nvCxnSpPr>
        <p:spPr>
          <a:xfrm>
            <a:off x="5994400" y="3200400"/>
            <a:ext cx="165100" cy="0"/>
          </a:xfrm>
          <a:prstGeom prst="line">
            <a:avLst/>
          </a:prstGeom>
          <a:ln w="25400">
            <a:solidFill>
              <a:srgbClr val="CC582D"/>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D9D74291-2312-4A2A-76E3-96B72D394633}"/>
              </a:ext>
            </a:extLst>
          </p:cNvPr>
          <p:cNvCxnSpPr/>
          <p:nvPr/>
        </p:nvCxnSpPr>
        <p:spPr>
          <a:xfrm>
            <a:off x="8851900" y="3200400"/>
            <a:ext cx="165100" cy="0"/>
          </a:xfrm>
          <a:prstGeom prst="line">
            <a:avLst/>
          </a:prstGeom>
          <a:ln w="25400">
            <a:solidFill>
              <a:srgbClr val="CC582D"/>
            </a:solidFill>
            <a:tailEnd type="arrow"/>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D462E3E-DA10-0D5E-DB6A-067E8316DA6A}"/>
              </a:ext>
            </a:extLst>
          </p:cNvPr>
          <p:cNvSpPr txBox="1"/>
          <p:nvPr/>
        </p:nvSpPr>
        <p:spPr>
          <a:xfrm>
            <a:off x="533400" y="4229099"/>
            <a:ext cx="3530600" cy="901700"/>
          </a:xfrm>
          <a:prstGeom prst="rect">
            <a:avLst/>
          </a:prstGeom>
          <a:noFill/>
        </p:spPr>
        <p:txBody>
          <a:bodyPr vert="horz" wrap="square" lIns="0" tIns="0" rIns="0" bIns="0" rtlCol="0">
            <a:noAutofit/>
          </a:bodyPr>
          <a:lstStyle/>
          <a:p>
            <a:pPr>
              <a:spcAft>
                <a:spcPts val="400"/>
              </a:spcAft>
            </a:pPr>
            <a:r>
              <a:rPr lang="en-US" sz="5500" b="1">
                <a:solidFill>
                  <a:srgbClr val="173F35"/>
                </a:solidFill>
                <a:latin typeface="Aptos" panose="020B0004020202020204" pitchFamily="34" charset="0"/>
              </a:rPr>
              <a:t>301</a:t>
            </a:r>
          </a:p>
        </p:txBody>
      </p:sp>
      <p:sp>
        <p:nvSpPr>
          <p:cNvPr id="25" name="TextBox 24">
            <a:extLst>
              <a:ext uri="{FF2B5EF4-FFF2-40B4-BE49-F238E27FC236}">
                <a16:creationId xmlns:a16="http://schemas.microsoft.com/office/drawing/2014/main" id="{1D6596D7-15E9-FBC7-B893-C5456CE8B1AB}"/>
              </a:ext>
            </a:extLst>
          </p:cNvPr>
          <p:cNvSpPr txBox="1"/>
          <p:nvPr/>
        </p:nvSpPr>
        <p:spPr>
          <a:xfrm>
            <a:off x="533400" y="5181599"/>
            <a:ext cx="3530600" cy="5969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passing Laravel tests
1,833 assertions · 10 Oct 2026</a:t>
            </a:r>
          </a:p>
        </p:txBody>
      </p:sp>
      <p:sp>
        <p:nvSpPr>
          <p:cNvPr id="26" name="TextBox 25">
            <a:extLst>
              <a:ext uri="{FF2B5EF4-FFF2-40B4-BE49-F238E27FC236}">
                <a16:creationId xmlns:a16="http://schemas.microsoft.com/office/drawing/2014/main" id="{A233617C-4C2A-A54B-6C3B-B393AEB7410E}"/>
              </a:ext>
            </a:extLst>
          </p:cNvPr>
          <p:cNvSpPr txBox="1"/>
          <p:nvPr/>
        </p:nvSpPr>
        <p:spPr>
          <a:xfrm>
            <a:off x="4330700" y="4279899"/>
            <a:ext cx="3530600" cy="774700"/>
          </a:xfrm>
          <a:prstGeom prst="rect">
            <a:avLst/>
          </a:prstGeom>
          <a:noFill/>
        </p:spPr>
        <p:txBody>
          <a:bodyPr vert="horz" wrap="square" lIns="0" tIns="0" rIns="0" bIns="0" rtlCol="0">
            <a:noAutofit/>
          </a:bodyPr>
          <a:lstStyle/>
          <a:p>
            <a:pPr>
              <a:spcAft>
                <a:spcPts val="400"/>
              </a:spcAft>
            </a:pPr>
            <a:r>
              <a:rPr lang="en-US" sz="3200" b="1">
                <a:solidFill>
                  <a:srgbClr val="173F35"/>
                </a:solidFill>
                <a:latin typeface="Aptos" panose="020B0004020202020204" pitchFamily="34" charset="0"/>
              </a:rPr>
              <a:t>Signed APK</a:t>
            </a:r>
          </a:p>
        </p:txBody>
      </p:sp>
      <p:sp>
        <p:nvSpPr>
          <p:cNvPr id="27" name="TextBox 26">
            <a:extLst>
              <a:ext uri="{FF2B5EF4-FFF2-40B4-BE49-F238E27FC236}">
                <a16:creationId xmlns:a16="http://schemas.microsoft.com/office/drawing/2014/main" id="{33866E4A-97A0-B634-D989-758A9052BBDC}"/>
              </a:ext>
            </a:extLst>
          </p:cNvPr>
          <p:cNvSpPr txBox="1"/>
          <p:nvPr/>
        </p:nvSpPr>
        <p:spPr>
          <a:xfrm>
            <a:off x="4330700" y="5181599"/>
            <a:ext cx="3530600" cy="596900"/>
          </a:xfrm>
          <a:prstGeom prst="rect">
            <a:avLst/>
          </a:prstGeom>
          <a:noFill/>
        </p:spPr>
        <p:txBody>
          <a:bodyPr vert="horz" wrap="square" lIns="0" tIns="0" rIns="0" bIns="0" rtlCol="0">
            <a:noAutofit/>
          </a:bodyPr>
          <a:lstStyle/>
          <a:p>
            <a:pPr>
              <a:spcAft>
                <a:spcPts val="400"/>
              </a:spcAft>
            </a:pPr>
            <a:r>
              <a:rPr lang="en-US" sz="1500">
                <a:solidFill>
                  <a:srgbClr val="60756B"/>
                </a:solidFill>
                <a:latin typeface="Aptos" panose="020B0004020202020204" pitchFamily="34" charset="0"/>
              </a:rPr>
              <a:t>Remote build, lint &amp; signature checks
Physical-phone testing still required</a:t>
            </a:r>
          </a:p>
        </p:txBody>
      </p:sp>
      <p:sp>
        <p:nvSpPr>
          <p:cNvPr id="28" name="TextBox 27">
            <a:extLst>
              <a:ext uri="{FF2B5EF4-FFF2-40B4-BE49-F238E27FC236}">
                <a16:creationId xmlns:a16="http://schemas.microsoft.com/office/drawing/2014/main" id="{9D3D2A54-5090-1F1A-042C-E4FAC9C1DA31}"/>
              </a:ext>
            </a:extLst>
          </p:cNvPr>
          <p:cNvSpPr txBox="1"/>
          <p:nvPr/>
        </p:nvSpPr>
        <p:spPr>
          <a:xfrm>
            <a:off x="8128000" y="4279899"/>
            <a:ext cx="3530600" cy="774700"/>
          </a:xfrm>
          <a:prstGeom prst="rect">
            <a:avLst/>
          </a:prstGeom>
          <a:noFill/>
        </p:spPr>
        <p:txBody>
          <a:bodyPr vert="horz" wrap="square" lIns="0" tIns="0" rIns="0" bIns="0" rtlCol="0">
            <a:noAutofit/>
          </a:bodyPr>
          <a:lstStyle/>
          <a:p>
            <a:pPr>
              <a:spcAft>
                <a:spcPts val="400"/>
              </a:spcAft>
            </a:pPr>
            <a:r>
              <a:rPr lang="en-US" sz="3000" b="1">
                <a:solidFill>
                  <a:srgbClr val="173F35"/>
                </a:solidFill>
                <a:latin typeface="Aptos" panose="020B0004020202020204" pitchFamily="34" charset="0"/>
              </a:rPr>
              <a:t>Private evidence</a:t>
            </a:r>
          </a:p>
        </p:txBody>
      </p:sp>
      <p:sp>
        <p:nvSpPr>
          <p:cNvPr id="29" name="TextBox 28">
            <a:extLst>
              <a:ext uri="{FF2B5EF4-FFF2-40B4-BE49-F238E27FC236}">
                <a16:creationId xmlns:a16="http://schemas.microsoft.com/office/drawing/2014/main" id="{04F75DB1-463D-252A-5469-0E76CD1CDE89}"/>
              </a:ext>
            </a:extLst>
          </p:cNvPr>
          <p:cNvSpPr txBox="1"/>
          <p:nvPr/>
        </p:nvSpPr>
        <p:spPr>
          <a:xfrm>
            <a:off x="8128000" y="5181599"/>
            <a:ext cx="3530600" cy="596900"/>
          </a:xfrm>
          <a:prstGeom prst="rect">
            <a:avLst/>
          </a:prstGeom>
          <a:noFill/>
        </p:spPr>
        <p:txBody>
          <a:bodyPr vert="horz" wrap="square" lIns="0" tIns="0" rIns="0" bIns="0" rtlCol="0">
            <a:noAutofit/>
          </a:bodyPr>
          <a:lstStyle/>
          <a:p>
            <a:pPr>
              <a:spcAft>
                <a:spcPts val="400"/>
              </a:spcAft>
            </a:pPr>
            <a:r>
              <a:rPr lang="en-US" sz="1500">
                <a:solidFill>
                  <a:srgbClr val="60756B"/>
                </a:solidFill>
                <a:latin typeface="Aptos" panose="020B0004020202020204" pitchFamily="34" charset="0"/>
              </a:rPr>
              <a:t>MFA admin access · signed previews
Restricted users retain read access</a:t>
            </a:r>
          </a:p>
        </p:txBody>
      </p:sp>
      <p:sp>
        <p:nvSpPr>
          <p:cNvPr id="30" name="TextBox 29">
            <a:extLst>
              <a:ext uri="{FF2B5EF4-FFF2-40B4-BE49-F238E27FC236}">
                <a16:creationId xmlns:a16="http://schemas.microsoft.com/office/drawing/2014/main" id="{9911B0C8-1F16-DE55-1281-89D30C7A4F30}"/>
              </a:ext>
            </a:extLst>
          </p:cNvPr>
          <p:cNvSpPr txBox="1"/>
          <p:nvPr/>
        </p:nvSpPr>
        <p:spPr>
          <a:xfrm>
            <a:off x="533400" y="6007100"/>
            <a:ext cx="11125200" cy="241300"/>
          </a:xfrm>
          <a:prstGeom prst="rect">
            <a:avLst/>
          </a:prstGeom>
          <a:noFill/>
        </p:spPr>
        <p:txBody>
          <a:bodyPr vert="horz" wrap="square" lIns="0" tIns="0" rIns="0" bIns="0" rtlCol="0">
            <a:noAutofit/>
          </a:bodyPr>
          <a:lstStyle/>
          <a:p>
            <a:pPr>
              <a:spcAft>
                <a:spcPts val="400"/>
              </a:spcAft>
            </a:pPr>
            <a:r>
              <a:rPr lang="en-US" sz="1100">
                <a:solidFill>
                  <a:srgbClr val="60756B"/>
                </a:solidFill>
                <a:latin typeface="Aptos" panose="020B0004020202020204" pitchFamily="34" charset="0"/>
              </a:rPr>
              <a:t>Tests prove selected behaviors—not complete security, model accuracy, production scale or legal compliance.</a:t>
            </a:r>
          </a:p>
        </p:txBody>
      </p:sp>
    </p:spTree>
    <p:extLst>
      <p:ext uri="{BB962C8B-B14F-4D97-AF65-F5344CB8AC3E}">
        <p14:creationId xmlns:p14="http://schemas.microsoft.com/office/powerpoint/2010/main" val="22657467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9D0723-C7A9-FE45-90F9-42B51DC07D6A}"/>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11834A5-517B-6F61-410E-E36AF4DDB66F}"/>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60756B"/>
                </a:solidFill>
                <a:latin typeface="Aptos" panose="020B0004020202020204" pitchFamily="34" charset="0"/>
              </a:rPr>
              <a:t>06 / FEASIBILITY, SUSTAINABILITY &amp; A BUYER HYPOTHESIS</a:t>
            </a:r>
          </a:p>
        </p:txBody>
      </p:sp>
      <p:sp>
        <p:nvSpPr>
          <p:cNvPr id="4" name="TextBox 3">
            <a:extLst>
              <a:ext uri="{FF2B5EF4-FFF2-40B4-BE49-F238E27FC236}">
                <a16:creationId xmlns:a16="http://schemas.microsoft.com/office/drawing/2014/main" id="{C007B1A9-6603-C621-2818-C3C3304E90C5}"/>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203D33"/>
                </a:solidFill>
                <a:latin typeface="Aptos" panose="020B0004020202020204" pitchFamily="34" charset="0"/>
              </a:rPr>
              <a:t>Start narrow. Measure value. Scale responsibly.</a:t>
            </a:r>
          </a:p>
        </p:txBody>
      </p:sp>
      <p:sp>
        <p:nvSpPr>
          <p:cNvPr id="5" name="TextBox 4">
            <a:extLst>
              <a:ext uri="{FF2B5EF4-FFF2-40B4-BE49-F238E27FC236}">
                <a16:creationId xmlns:a16="http://schemas.microsoft.com/office/drawing/2014/main" id="{C3CEA8E1-88A2-2771-2299-7F0F8E6FE21C}"/>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60756B"/>
                </a:solidFill>
                <a:latin typeface="Aptos" panose="020B0004020202020204" pitchFamily="34" charset="0"/>
              </a:rPr>
              <a:t>Proposed institutional service—not current revenue, a signed partner or a field-tested impact claim.</a:t>
            </a:r>
          </a:p>
        </p:txBody>
      </p:sp>
      <p:cxnSp>
        <p:nvCxnSpPr>
          <p:cNvPr id="6" name="Straight Connector 5">
            <a:extLst>
              <a:ext uri="{FF2B5EF4-FFF2-40B4-BE49-F238E27FC236}">
                <a16:creationId xmlns:a16="http://schemas.microsoft.com/office/drawing/2014/main" id="{CB728D1F-2C1E-781F-FDD6-66D2E7DB934B}"/>
              </a:ext>
            </a:extLst>
          </p:cNvPr>
          <p:cNvCxnSpPr/>
          <p:nvPr/>
        </p:nvCxnSpPr>
        <p:spPr>
          <a:xfrm>
            <a:off x="533400" y="6426200"/>
            <a:ext cx="111252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BED7DF20-EC39-25F5-E758-F244B841BB7E}"/>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60756B"/>
                </a:solidFill>
                <a:latin typeface="Aptos" panose="020B0004020202020204" pitchFamily="34" charset="0"/>
              </a:rPr>
              <a:t>MOSHKELTI   /   AI QUEST 2026   /   next.society()</a:t>
            </a:r>
            <a:endParaRPr lang="en-US" sz="900" b="1">
              <a:solidFill>
                <a:srgbClr val="60756B"/>
              </a:solidFill>
              <a:latin typeface="Aptos" panose="020B0004020202020204" pitchFamily="34" charset="0"/>
            </a:endParaRPr>
          </a:p>
        </p:txBody>
      </p:sp>
      <p:sp>
        <p:nvSpPr>
          <p:cNvPr id="8" name="TextBox 7">
            <a:extLst>
              <a:ext uri="{FF2B5EF4-FFF2-40B4-BE49-F238E27FC236}">
                <a16:creationId xmlns:a16="http://schemas.microsoft.com/office/drawing/2014/main" id="{9D2F3380-BC61-9265-AFEB-493F0AFB669A}"/>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60756B"/>
                </a:solidFill>
                <a:latin typeface="Aptos" panose="020B0004020202020204" pitchFamily="34" charset="0"/>
              </a:rPr>
              <a:t>07 / 08</a:t>
            </a:r>
          </a:p>
        </p:txBody>
      </p:sp>
      <p:sp>
        <p:nvSpPr>
          <p:cNvPr id="9" name="Rectangle: Rounded Corners 8">
            <a:extLst>
              <a:ext uri="{FF2B5EF4-FFF2-40B4-BE49-F238E27FC236}">
                <a16:creationId xmlns:a16="http://schemas.microsoft.com/office/drawing/2014/main" id="{4423ED44-B1B9-8FC0-B80A-ED7A9277756D}"/>
              </a:ext>
            </a:extLst>
          </p:cNvPr>
          <p:cNvSpPr/>
          <p:nvPr/>
        </p:nvSpPr>
        <p:spPr>
          <a:xfrm>
            <a:off x="533400" y="2705100"/>
            <a:ext cx="3530600" cy="30226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548007E-883B-1C1E-EA77-5AD54BF548BE}"/>
              </a:ext>
            </a:extLst>
          </p:cNvPr>
          <p:cNvSpPr txBox="1"/>
          <p:nvPr/>
        </p:nvSpPr>
        <p:spPr>
          <a:xfrm>
            <a:off x="787400" y="29336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WHO PAYS? · PROPOSED</a:t>
            </a:r>
          </a:p>
        </p:txBody>
      </p:sp>
      <p:sp>
        <p:nvSpPr>
          <p:cNvPr id="11" name="TextBox 10">
            <a:extLst>
              <a:ext uri="{FF2B5EF4-FFF2-40B4-BE49-F238E27FC236}">
                <a16:creationId xmlns:a16="http://schemas.microsoft.com/office/drawing/2014/main" id="{1A502EA2-846A-224D-2980-5C8530327992}"/>
              </a:ext>
            </a:extLst>
          </p:cNvPr>
          <p:cNvSpPr txBox="1"/>
          <p:nvPr/>
        </p:nvSpPr>
        <p:spPr>
          <a:xfrm>
            <a:off x="787400" y="33527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The operator</a:t>
            </a:r>
          </a:p>
        </p:txBody>
      </p:sp>
      <p:sp>
        <p:nvSpPr>
          <p:cNvPr id="12" name="TextBox 11">
            <a:extLst>
              <a:ext uri="{FF2B5EF4-FFF2-40B4-BE49-F238E27FC236}">
                <a16:creationId xmlns:a16="http://schemas.microsoft.com/office/drawing/2014/main" id="{8C1C5157-4ECC-2C5F-BB6C-0B0140F3AAE2}"/>
              </a:ext>
            </a:extLst>
          </p:cNvPr>
          <p:cNvSpPr txBox="1"/>
          <p:nvPr/>
        </p:nvSpPr>
        <p:spPr>
          <a:xfrm>
            <a:off x="787400" y="4292599"/>
            <a:ext cx="3022600" cy="12573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Free citizen use. Proposed operator license/service + setup. No signed buyer or validated procurement path.</a:t>
            </a:r>
          </a:p>
        </p:txBody>
      </p:sp>
      <p:sp>
        <p:nvSpPr>
          <p:cNvPr id="13" name="Rectangle: Rounded Corners 12">
            <a:extLst>
              <a:ext uri="{FF2B5EF4-FFF2-40B4-BE49-F238E27FC236}">
                <a16:creationId xmlns:a16="http://schemas.microsoft.com/office/drawing/2014/main" id="{EC787186-3E34-1B30-6742-0DD04ED1452C}"/>
              </a:ext>
            </a:extLst>
          </p:cNvPr>
          <p:cNvSpPr/>
          <p:nvPr/>
        </p:nvSpPr>
        <p:spPr>
          <a:xfrm>
            <a:off x="4330700" y="2705100"/>
            <a:ext cx="3530600" cy="30226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86CB9A51-9938-7342-61E5-A297CAA05AB8}"/>
              </a:ext>
            </a:extLst>
          </p:cNvPr>
          <p:cNvSpPr txBox="1"/>
          <p:nvPr/>
        </p:nvSpPr>
        <p:spPr>
          <a:xfrm>
            <a:off x="4584700" y="29336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WHAT WE TEST · PROPOSED</a:t>
            </a:r>
          </a:p>
        </p:txBody>
      </p:sp>
      <p:sp>
        <p:nvSpPr>
          <p:cNvPr id="15" name="TextBox 14">
            <a:extLst>
              <a:ext uri="{FF2B5EF4-FFF2-40B4-BE49-F238E27FC236}">
                <a16:creationId xmlns:a16="http://schemas.microsoft.com/office/drawing/2014/main" id="{069C7110-0BB5-4EA2-77A5-DC669F86593B}"/>
              </a:ext>
            </a:extLst>
          </p:cNvPr>
          <p:cNvSpPr txBox="1"/>
          <p:nvPr/>
        </p:nvSpPr>
        <p:spPr>
          <a:xfrm>
            <a:off x="4584700" y="33527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One bounded pilot</a:t>
            </a:r>
          </a:p>
        </p:txBody>
      </p:sp>
      <p:sp>
        <p:nvSpPr>
          <p:cNvPr id="16" name="TextBox 15">
            <a:extLst>
              <a:ext uri="{FF2B5EF4-FFF2-40B4-BE49-F238E27FC236}">
                <a16:creationId xmlns:a16="http://schemas.microsoft.com/office/drawing/2014/main" id="{CACAFF3C-1610-CEB3-5ABE-78914C931579}"/>
              </a:ext>
            </a:extLst>
          </p:cNvPr>
          <p:cNvSpPr txBox="1"/>
          <p:nvPr/>
        </p:nvSpPr>
        <p:spPr>
          <a:xfrm>
            <a:off x="4584700" y="4292599"/>
            <a:ext cx="3022600" cy="12573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One district, one team, six weeks. Measure review time, completeness, clarification loops and cost per case.</a:t>
            </a:r>
          </a:p>
        </p:txBody>
      </p:sp>
      <p:sp>
        <p:nvSpPr>
          <p:cNvPr id="17" name="Rectangle: Rounded Corners 16">
            <a:extLst>
              <a:ext uri="{FF2B5EF4-FFF2-40B4-BE49-F238E27FC236}">
                <a16:creationId xmlns:a16="http://schemas.microsoft.com/office/drawing/2014/main" id="{F51E94CA-DC5B-67B6-D43E-2EE32015265E}"/>
              </a:ext>
            </a:extLst>
          </p:cNvPr>
          <p:cNvSpPr/>
          <p:nvPr/>
        </p:nvSpPr>
        <p:spPr>
          <a:xfrm>
            <a:off x="8128000" y="2705100"/>
            <a:ext cx="3530600" cy="30226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6AEA23D0-9943-B772-91DA-13A71878DDAF}"/>
              </a:ext>
            </a:extLst>
          </p:cNvPr>
          <p:cNvSpPr txBox="1"/>
          <p:nvPr/>
        </p:nvSpPr>
        <p:spPr>
          <a:xfrm>
            <a:off x="8382000" y="29336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HOW WE SCALE · CONDITIONAL</a:t>
            </a:r>
          </a:p>
        </p:txBody>
      </p:sp>
      <p:sp>
        <p:nvSpPr>
          <p:cNvPr id="19" name="TextBox 18">
            <a:extLst>
              <a:ext uri="{FF2B5EF4-FFF2-40B4-BE49-F238E27FC236}">
                <a16:creationId xmlns:a16="http://schemas.microsoft.com/office/drawing/2014/main" id="{029D1443-2C21-0682-5D84-EB2310D9F6A9}"/>
              </a:ext>
            </a:extLst>
          </p:cNvPr>
          <p:cNvSpPr txBox="1"/>
          <p:nvPr/>
        </p:nvSpPr>
        <p:spPr>
          <a:xfrm>
            <a:off x="8382000" y="33527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Approved local routing</a:t>
            </a:r>
          </a:p>
        </p:txBody>
      </p:sp>
      <p:sp>
        <p:nvSpPr>
          <p:cNvPr id="20" name="TextBox 19">
            <a:extLst>
              <a:ext uri="{FF2B5EF4-FFF2-40B4-BE49-F238E27FC236}">
                <a16:creationId xmlns:a16="http://schemas.microsoft.com/office/drawing/2014/main" id="{839D435B-7B85-1CC8-D64C-794422088673}"/>
              </a:ext>
            </a:extLst>
          </p:cNvPr>
          <p:cNvSpPr txBox="1"/>
          <p:nvPr/>
        </p:nvSpPr>
        <p:spPr>
          <a:xfrm>
            <a:off x="8382000" y="4292599"/>
            <a:ext cx="3022600" cy="12573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Reuse the workflow with verified jurisdictions and integrations. Budget for hosting, SMS, support and reviewers.</a:t>
            </a:r>
          </a:p>
        </p:txBody>
      </p:sp>
      <p:sp>
        <p:nvSpPr>
          <p:cNvPr id="21" name="TextBox 20">
            <a:extLst>
              <a:ext uri="{FF2B5EF4-FFF2-40B4-BE49-F238E27FC236}">
                <a16:creationId xmlns:a16="http://schemas.microsoft.com/office/drawing/2014/main" id="{17FBBA58-C92B-D5C7-5782-18888FF10DAF}"/>
              </a:ext>
            </a:extLst>
          </p:cNvPr>
          <p:cNvSpPr txBox="1"/>
          <p:nvPr/>
        </p:nvSpPr>
        <p:spPr>
          <a:xfrm>
            <a:off x="533400" y="5930899"/>
            <a:ext cx="11125200" cy="292100"/>
          </a:xfrm>
          <a:prstGeom prst="rect">
            <a:avLst/>
          </a:prstGeom>
          <a:noFill/>
        </p:spPr>
        <p:txBody>
          <a:bodyPr vert="horz" wrap="square" lIns="0" tIns="0" rIns="0" bIns="0" rtlCol="0">
            <a:noAutofit/>
          </a:bodyPr>
          <a:lstStyle/>
          <a:p>
            <a:pPr>
              <a:spcAft>
                <a:spcPts val="400"/>
              </a:spcAft>
            </a:pPr>
            <a:r>
              <a:rPr lang="en-US" sz="1300">
                <a:solidFill>
                  <a:srgbClr val="60756B"/>
                </a:solidFill>
                <a:latin typeface="Aptos" panose="020B0004020202020204" pitchFamily="34" charset="0"/>
              </a:rPr>
              <a:t>No ads or sale of citizen data. No promised repair speed. Unit economics and institutional adoption remain unvalidated.</a:t>
            </a:r>
          </a:p>
        </p:txBody>
      </p:sp>
    </p:spTree>
    <p:extLst>
      <p:ext uri="{BB962C8B-B14F-4D97-AF65-F5344CB8AC3E}">
        <p14:creationId xmlns:p14="http://schemas.microsoft.com/office/powerpoint/2010/main" val="324654918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73F35"/>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7D512FE-2FC7-47D8-9F65-17D6EEB4C635}"/>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33B8539D-72AE-30F6-8C70-FC6C65C88F97}"/>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C5DDCB"/>
                </a:solidFill>
                <a:latin typeface="Aptos" panose="020B0004020202020204" pitchFamily="34" charset="0"/>
              </a:rPr>
              <a:t>07 / THE NEXT STEP &amp; OUR ASK</a:t>
            </a:r>
          </a:p>
        </p:txBody>
      </p:sp>
      <p:cxnSp>
        <p:nvCxnSpPr>
          <p:cNvPr id="4" name="Straight Connector 3">
            <a:extLst>
              <a:ext uri="{FF2B5EF4-FFF2-40B4-BE49-F238E27FC236}">
                <a16:creationId xmlns:a16="http://schemas.microsoft.com/office/drawing/2014/main" id="{7E7F8078-E782-47ED-5DE7-10F48C88BDBE}"/>
              </a:ext>
            </a:extLst>
          </p:cNvPr>
          <p:cNvCxnSpPr/>
          <p:nvPr/>
        </p:nvCxnSpPr>
        <p:spPr>
          <a:xfrm>
            <a:off x="533400" y="6426200"/>
            <a:ext cx="11125200" cy="0"/>
          </a:xfrm>
          <a:prstGeom prst="line">
            <a:avLst/>
          </a:prstGeom>
          <a:ln w="12700">
            <a:solidFill>
              <a:srgbClr val="47635A"/>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F38E0E0D-A9DA-D19C-160D-EFA2F16BD5AB}"/>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C5DDCB"/>
                </a:solidFill>
                <a:latin typeface="Aptos" panose="020B0004020202020204" pitchFamily="34" charset="0"/>
              </a:rPr>
              <a:t>MOSHKELTI   /   AI QUEST 2026   /   next.society()</a:t>
            </a:r>
            <a:endParaRPr lang="en-US" sz="900" b="1">
              <a:solidFill>
                <a:srgbClr val="C5DDCB"/>
              </a:solidFill>
              <a:latin typeface="Aptos" panose="020B0004020202020204" pitchFamily="34" charset="0"/>
            </a:endParaRPr>
          </a:p>
        </p:txBody>
      </p:sp>
      <p:sp>
        <p:nvSpPr>
          <p:cNvPr id="6" name="TextBox 5">
            <a:extLst>
              <a:ext uri="{FF2B5EF4-FFF2-40B4-BE49-F238E27FC236}">
                <a16:creationId xmlns:a16="http://schemas.microsoft.com/office/drawing/2014/main" id="{3B6E1786-8691-B1E8-0338-689FD99E8A0F}"/>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C5DDCB"/>
                </a:solidFill>
                <a:latin typeface="Aptos" panose="020B0004020202020204" pitchFamily="34" charset="0"/>
              </a:rPr>
              <a:t>08 / 08</a:t>
            </a:r>
          </a:p>
        </p:txBody>
      </p:sp>
      <p:sp>
        <p:nvSpPr>
          <p:cNvPr id="7" name="TextBox 6">
            <a:extLst>
              <a:ext uri="{FF2B5EF4-FFF2-40B4-BE49-F238E27FC236}">
                <a16:creationId xmlns:a16="http://schemas.microsoft.com/office/drawing/2014/main" id="{E62557C3-32EB-AFB2-F726-FBE60D91AF7F}"/>
              </a:ext>
            </a:extLst>
          </p:cNvPr>
          <p:cNvSpPr txBox="1"/>
          <p:nvPr/>
        </p:nvSpPr>
        <p:spPr>
          <a:xfrm>
            <a:off x="533400" y="1003299"/>
            <a:ext cx="11125200" cy="1346200"/>
          </a:xfrm>
          <a:prstGeom prst="rect">
            <a:avLst/>
          </a:prstGeom>
          <a:noFill/>
        </p:spPr>
        <p:txBody>
          <a:bodyPr vert="horz" wrap="square" lIns="0" tIns="0" rIns="0" bIns="0" rtlCol="0">
            <a:noAutofit/>
          </a:bodyPr>
          <a:lstStyle/>
          <a:p>
            <a:pPr>
              <a:spcAft>
                <a:spcPts val="400"/>
              </a:spcAft>
            </a:pPr>
            <a:r>
              <a:rPr lang="en-US" sz="3800" b="1">
                <a:solidFill>
                  <a:srgbClr val="FFFFFF"/>
                </a:solidFill>
                <a:latin typeface="Aptos" panose="020B0004020202020204" pitchFamily="34" charset="0"/>
              </a:rPr>
              <a:t>One district. One review team.
A measurable next step.</a:t>
            </a:r>
          </a:p>
        </p:txBody>
      </p:sp>
      <p:sp>
        <p:nvSpPr>
          <p:cNvPr id="8" name="TextBox 7">
            <a:extLst>
              <a:ext uri="{FF2B5EF4-FFF2-40B4-BE49-F238E27FC236}">
                <a16:creationId xmlns:a16="http://schemas.microsoft.com/office/drawing/2014/main" id="{3202C4C1-4DEA-FC1D-DCE2-1BA49E4F3678}"/>
              </a:ext>
            </a:extLst>
          </p:cNvPr>
          <p:cNvSpPr txBox="1"/>
          <p:nvPr/>
        </p:nvSpPr>
        <p:spPr>
          <a:xfrm>
            <a:off x="533400" y="2781299"/>
            <a:ext cx="11125200" cy="482600"/>
          </a:xfrm>
          <a:prstGeom prst="rect">
            <a:avLst/>
          </a:prstGeom>
          <a:noFill/>
        </p:spPr>
        <p:txBody>
          <a:bodyPr vert="horz" wrap="square" lIns="0" tIns="0" rIns="0" bIns="0" rtlCol="0">
            <a:noAutofit/>
          </a:bodyPr>
          <a:lstStyle/>
          <a:p>
            <a:pPr>
              <a:spcAft>
                <a:spcPts val="400"/>
              </a:spcAft>
            </a:pPr>
            <a:r>
              <a:rPr lang="en-US" sz="2300">
                <a:solidFill>
                  <a:srgbClr val="C5DDCB"/>
                </a:solidFill>
                <a:latin typeface="Aptos" panose="020B0004020202020204" pitchFamily="34" charset="0"/>
              </a:rPr>
              <a:t>Seeking one pilot partner and an independent reviewer-led evaluation.</a:t>
            </a:r>
          </a:p>
        </p:txBody>
      </p:sp>
      <p:sp>
        <p:nvSpPr>
          <p:cNvPr id="9" name="Rectangle: Rounded Corners 8">
            <a:extLst>
              <a:ext uri="{FF2B5EF4-FFF2-40B4-BE49-F238E27FC236}">
                <a16:creationId xmlns:a16="http://schemas.microsoft.com/office/drawing/2014/main" id="{FD50A004-BD1F-E30C-5C32-9FF139BC9304}"/>
              </a:ext>
            </a:extLst>
          </p:cNvPr>
          <p:cNvSpPr/>
          <p:nvPr/>
        </p:nvSpPr>
        <p:spPr>
          <a:xfrm>
            <a:off x="533400" y="3733800"/>
            <a:ext cx="3530600" cy="2311400"/>
          </a:xfrm>
          <a:prstGeom prst="roundRect">
            <a:avLst>
              <a:gd name="adj" fmla="val 13000"/>
            </a:avLst>
          </a:prstGeom>
          <a:solidFill>
            <a:srgbClr val="244F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D36C8591-68E8-1BF9-9065-A9985DE2CB39}"/>
              </a:ext>
            </a:extLst>
          </p:cNvPr>
          <p:cNvSpPr txBox="1"/>
          <p:nvPr/>
        </p:nvSpPr>
        <p:spPr>
          <a:xfrm>
            <a:off x="787400" y="3962399"/>
            <a:ext cx="3022600" cy="279400"/>
          </a:xfrm>
          <a:prstGeom prst="rect">
            <a:avLst/>
          </a:prstGeom>
          <a:noFill/>
        </p:spPr>
        <p:txBody>
          <a:bodyPr vert="horz" wrap="square" lIns="0" tIns="0" rIns="0" bIns="0" rtlCol="0">
            <a:noAutofit/>
          </a:bodyPr>
          <a:lstStyle/>
          <a:p>
            <a:pPr>
              <a:spcAft>
                <a:spcPts val="400"/>
              </a:spcAft>
            </a:pPr>
            <a:r>
              <a:rPr lang="en-US" sz="1100" b="1">
                <a:solidFill>
                  <a:srgbClr val="C5DDCB"/>
                </a:solidFill>
                <a:latin typeface="Aptos" panose="020B0004020202020204" pitchFamily="34" charset="0"/>
              </a:rPr>
              <a:t>NOW</a:t>
            </a:r>
          </a:p>
        </p:txBody>
      </p:sp>
      <p:sp>
        <p:nvSpPr>
          <p:cNvPr id="11" name="TextBox 10">
            <a:extLst>
              <a:ext uri="{FF2B5EF4-FFF2-40B4-BE49-F238E27FC236}">
                <a16:creationId xmlns:a16="http://schemas.microsoft.com/office/drawing/2014/main" id="{925BB9D8-6DCF-5EEE-BD10-77D81A6C0B7A}"/>
              </a:ext>
            </a:extLst>
          </p:cNvPr>
          <p:cNvSpPr txBox="1"/>
          <p:nvPr/>
        </p:nvSpPr>
        <p:spPr>
          <a:xfrm>
            <a:off x="787400" y="4381499"/>
            <a:ext cx="3022600" cy="584200"/>
          </a:xfrm>
          <a:prstGeom prst="rect">
            <a:avLst/>
          </a:prstGeom>
          <a:noFill/>
        </p:spPr>
        <p:txBody>
          <a:bodyPr vert="horz" wrap="square" lIns="0" tIns="0" rIns="0" bIns="0" rtlCol="0">
            <a:noAutofit/>
          </a:bodyPr>
          <a:lstStyle/>
          <a:p>
            <a:pPr>
              <a:spcAft>
                <a:spcPts val="400"/>
              </a:spcAft>
            </a:pPr>
            <a:r>
              <a:rPr lang="en-US" sz="2000" b="1">
                <a:solidFill>
                  <a:srgbClr val="FFFFFF"/>
                </a:solidFill>
                <a:latin typeface="Aptos" panose="020B0004020202020204" pitchFamily="34" charset="0"/>
              </a:rPr>
              <a:t>Working prototype</a:t>
            </a:r>
          </a:p>
        </p:txBody>
      </p:sp>
      <p:sp>
        <p:nvSpPr>
          <p:cNvPr id="12" name="TextBox 11">
            <a:extLst>
              <a:ext uri="{FF2B5EF4-FFF2-40B4-BE49-F238E27FC236}">
                <a16:creationId xmlns:a16="http://schemas.microsoft.com/office/drawing/2014/main" id="{458B2EE1-C772-94FD-41A2-1CB49AEA2A21}"/>
              </a:ext>
            </a:extLst>
          </p:cNvPr>
          <p:cNvSpPr txBox="1"/>
          <p:nvPr/>
        </p:nvSpPr>
        <p:spPr>
          <a:xfrm>
            <a:off x="787400" y="5067299"/>
            <a:ext cx="3022600" cy="825500"/>
          </a:xfrm>
          <a:prstGeom prst="rect">
            <a:avLst/>
          </a:prstGeom>
          <a:noFill/>
        </p:spPr>
        <p:txBody>
          <a:bodyPr vert="horz" wrap="square" lIns="0" tIns="0" rIns="0" bIns="0" rtlCol="0">
            <a:noAutofit/>
          </a:bodyPr>
          <a:lstStyle/>
          <a:p>
            <a:pPr>
              <a:spcAft>
                <a:spcPts val="400"/>
              </a:spcAft>
            </a:pPr>
            <a:r>
              <a:rPr lang="en-US" sz="1400">
                <a:solidFill>
                  <a:srgbClr val="C5DDCB"/>
                </a:solidFill>
                <a:latin typeface="Aptos" panose="020B0004020202020204" pitchFamily="34" charset="0"/>
              </a:rPr>
              <a:t>Citizen flow, review, recorded AI and signed APK. Explicit simulations.</a:t>
            </a:r>
          </a:p>
        </p:txBody>
      </p:sp>
      <p:sp>
        <p:nvSpPr>
          <p:cNvPr id="13" name="Rectangle: Rounded Corners 12">
            <a:extLst>
              <a:ext uri="{FF2B5EF4-FFF2-40B4-BE49-F238E27FC236}">
                <a16:creationId xmlns:a16="http://schemas.microsoft.com/office/drawing/2014/main" id="{9400851B-1260-D688-BFC6-3A3A0E3A9444}"/>
              </a:ext>
            </a:extLst>
          </p:cNvPr>
          <p:cNvSpPr/>
          <p:nvPr/>
        </p:nvSpPr>
        <p:spPr>
          <a:xfrm>
            <a:off x="4330700" y="3733800"/>
            <a:ext cx="3530600" cy="2311400"/>
          </a:xfrm>
          <a:prstGeom prst="roundRect">
            <a:avLst>
              <a:gd name="adj" fmla="val 13000"/>
            </a:avLst>
          </a:prstGeom>
          <a:solidFill>
            <a:srgbClr val="244F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59DAC46-BBAF-569E-4CF3-6D1C11508D35}"/>
              </a:ext>
            </a:extLst>
          </p:cNvPr>
          <p:cNvSpPr txBox="1"/>
          <p:nvPr/>
        </p:nvSpPr>
        <p:spPr>
          <a:xfrm>
            <a:off x="4584700" y="3962399"/>
            <a:ext cx="3022600" cy="279400"/>
          </a:xfrm>
          <a:prstGeom prst="rect">
            <a:avLst/>
          </a:prstGeom>
          <a:noFill/>
        </p:spPr>
        <p:txBody>
          <a:bodyPr vert="horz" wrap="square" lIns="0" tIns="0" rIns="0" bIns="0" rtlCol="0">
            <a:noAutofit/>
          </a:bodyPr>
          <a:lstStyle/>
          <a:p>
            <a:pPr>
              <a:spcAft>
                <a:spcPts val="400"/>
              </a:spcAft>
            </a:pPr>
            <a:r>
              <a:rPr lang="en-US" sz="1100" b="1">
                <a:solidFill>
                  <a:srgbClr val="C5DDCB"/>
                </a:solidFill>
                <a:latin typeface="Aptos" panose="020B0004020202020204" pitchFamily="34" charset="0"/>
              </a:rPr>
              <a:t>NEXT · PROPOSED</a:t>
            </a:r>
          </a:p>
        </p:txBody>
      </p:sp>
      <p:sp>
        <p:nvSpPr>
          <p:cNvPr id="15" name="TextBox 14">
            <a:extLst>
              <a:ext uri="{FF2B5EF4-FFF2-40B4-BE49-F238E27FC236}">
                <a16:creationId xmlns:a16="http://schemas.microsoft.com/office/drawing/2014/main" id="{3F7F74F3-FDF1-826C-E15F-98437B8CB656}"/>
              </a:ext>
            </a:extLst>
          </p:cNvPr>
          <p:cNvSpPr txBox="1"/>
          <p:nvPr/>
        </p:nvSpPr>
        <p:spPr>
          <a:xfrm>
            <a:off x="4584700" y="4381499"/>
            <a:ext cx="3022600" cy="584200"/>
          </a:xfrm>
          <a:prstGeom prst="rect">
            <a:avLst/>
          </a:prstGeom>
          <a:noFill/>
        </p:spPr>
        <p:txBody>
          <a:bodyPr vert="horz" wrap="square" lIns="0" tIns="0" rIns="0" bIns="0" rtlCol="0">
            <a:noAutofit/>
          </a:bodyPr>
          <a:lstStyle/>
          <a:p>
            <a:pPr>
              <a:spcAft>
                <a:spcPts val="400"/>
              </a:spcAft>
            </a:pPr>
            <a:r>
              <a:rPr lang="en-US" sz="2000" b="1">
                <a:solidFill>
                  <a:srgbClr val="FFFFFF"/>
                </a:solidFill>
                <a:latin typeface="Aptos" panose="020B0004020202020204" pitchFamily="34" charset="0"/>
              </a:rPr>
              <a:t>Bounded validation</a:t>
            </a:r>
          </a:p>
        </p:txBody>
      </p:sp>
      <p:sp>
        <p:nvSpPr>
          <p:cNvPr id="16" name="TextBox 15">
            <a:extLst>
              <a:ext uri="{FF2B5EF4-FFF2-40B4-BE49-F238E27FC236}">
                <a16:creationId xmlns:a16="http://schemas.microsoft.com/office/drawing/2014/main" id="{8CA2A0BF-951D-878B-8599-E3BA2235B758}"/>
              </a:ext>
            </a:extLst>
          </p:cNvPr>
          <p:cNvSpPr txBox="1"/>
          <p:nvPr/>
        </p:nvSpPr>
        <p:spPr>
          <a:xfrm>
            <a:off x="4584700" y="5067299"/>
            <a:ext cx="3022600" cy="825500"/>
          </a:xfrm>
          <a:prstGeom prst="rect">
            <a:avLst/>
          </a:prstGeom>
          <a:noFill/>
        </p:spPr>
        <p:txBody>
          <a:bodyPr vert="horz" wrap="square" lIns="0" tIns="0" rIns="0" bIns="0" rtlCol="0">
            <a:noAutofit/>
          </a:bodyPr>
          <a:lstStyle/>
          <a:p>
            <a:pPr>
              <a:spcAft>
                <a:spcPts val="400"/>
              </a:spcAft>
            </a:pPr>
            <a:r>
              <a:rPr lang="en-US" sz="1400">
                <a:solidFill>
                  <a:srgbClr val="C5DDCB"/>
                </a:solidFill>
                <a:latin typeface="Aptos" panose="020B0004020202020204" pitchFamily="34" charset="0"/>
              </a:rPr>
              <a:t>Synthetic bilingual evaluation, operator agreement and privacy review.</a:t>
            </a:r>
          </a:p>
        </p:txBody>
      </p:sp>
      <p:sp>
        <p:nvSpPr>
          <p:cNvPr id="17" name="Rectangle: Rounded Corners 16">
            <a:extLst>
              <a:ext uri="{FF2B5EF4-FFF2-40B4-BE49-F238E27FC236}">
                <a16:creationId xmlns:a16="http://schemas.microsoft.com/office/drawing/2014/main" id="{8B85C3B2-789D-EFF7-180F-9FF0129AA9F2}"/>
              </a:ext>
            </a:extLst>
          </p:cNvPr>
          <p:cNvSpPr/>
          <p:nvPr/>
        </p:nvSpPr>
        <p:spPr>
          <a:xfrm>
            <a:off x="8128000" y="3733800"/>
            <a:ext cx="3530600" cy="2311400"/>
          </a:xfrm>
          <a:prstGeom prst="roundRect">
            <a:avLst>
              <a:gd name="adj" fmla="val 13000"/>
            </a:avLst>
          </a:prstGeom>
          <a:solidFill>
            <a:srgbClr val="244F42"/>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1444B032-CF56-33CF-F3A2-987A9C47FC1A}"/>
              </a:ext>
            </a:extLst>
          </p:cNvPr>
          <p:cNvSpPr txBox="1"/>
          <p:nvPr/>
        </p:nvSpPr>
        <p:spPr>
          <a:xfrm>
            <a:off x="8382000" y="3962399"/>
            <a:ext cx="3022600" cy="279400"/>
          </a:xfrm>
          <a:prstGeom prst="rect">
            <a:avLst/>
          </a:prstGeom>
          <a:noFill/>
        </p:spPr>
        <p:txBody>
          <a:bodyPr vert="horz" wrap="square" lIns="0" tIns="0" rIns="0" bIns="0" rtlCol="0">
            <a:noAutofit/>
          </a:bodyPr>
          <a:lstStyle/>
          <a:p>
            <a:pPr>
              <a:spcAft>
                <a:spcPts val="400"/>
              </a:spcAft>
            </a:pPr>
            <a:r>
              <a:rPr lang="en-US" sz="1100" b="1">
                <a:solidFill>
                  <a:srgbClr val="C5DDCB"/>
                </a:solidFill>
                <a:latin typeface="Aptos" panose="020B0004020202020204" pitchFamily="34" charset="0"/>
              </a:rPr>
              <a:t>BEFORE REAL USE</a:t>
            </a:r>
          </a:p>
        </p:txBody>
      </p:sp>
      <p:sp>
        <p:nvSpPr>
          <p:cNvPr id="19" name="TextBox 18">
            <a:extLst>
              <a:ext uri="{FF2B5EF4-FFF2-40B4-BE49-F238E27FC236}">
                <a16:creationId xmlns:a16="http://schemas.microsoft.com/office/drawing/2014/main" id="{28E7C6A6-FDA0-F9BE-9B85-A4D3D60BC047}"/>
              </a:ext>
            </a:extLst>
          </p:cNvPr>
          <p:cNvSpPr txBox="1"/>
          <p:nvPr/>
        </p:nvSpPr>
        <p:spPr>
          <a:xfrm>
            <a:off x="8382000" y="4381499"/>
            <a:ext cx="3022600" cy="584200"/>
          </a:xfrm>
          <a:prstGeom prst="rect">
            <a:avLst/>
          </a:prstGeom>
          <a:noFill/>
        </p:spPr>
        <p:txBody>
          <a:bodyPr vert="horz" wrap="square" lIns="0" tIns="0" rIns="0" bIns="0" rtlCol="0">
            <a:noAutofit/>
          </a:bodyPr>
          <a:lstStyle/>
          <a:p>
            <a:pPr>
              <a:spcAft>
                <a:spcPts val="400"/>
              </a:spcAft>
            </a:pPr>
            <a:r>
              <a:rPr lang="en-US" sz="2000" b="1">
                <a:solidFill>
                  <a:srgbClr val="FFFFFF"/>
                </a:solidFill>
                <a:latin typeface="Aptos" panose="020B0004020202020204" pitchFamily="34" charset="0"/>
              </a:rPr>
              <a:t>Approved integration</a:t>
            </a:r>
          </a:p>
        </p:txBody>
      </p:sp>
      <p:sp>
        <p:nvSpPr>
          <p:cNvPr id="20" name="TextBox 19">
            <a:extLst>
              <a:ext uri="{FF2B5EF4-FFF2-40B4-BE49-F238E27FC236}">
                <a16:creationId xmlns:a16="http://schemas.microsoft.com/office/drawing/2014/main" id="{6918C3B7-1795-8B98-5284-C75CC60E64A3}"/>
              </a:ext>
            </a:extLst>
          </p:cNvPr>
          <p:cNvSpPr txBox="1"/>
          <p:nvPr/>
        </p:nvSpPr>
        <p:spPr>
          <a:xfrm>
            <a:off x="8382000" y="5067299"/>
            <a:ext cx="3022600" cy="825500"/>
          </a:xfrm>
          <a:prstGeom prst="rect">
            <a:avLst/>
          </a:prstGeom>
          <a:noFill/>
        </p:spPr>
        <p:txBody>
          <a:bodyPr vert="horz" wrap="square" lIns="0" tIns="0" rIns="0" bIns="0" rtlCol="0">
            <a:noAutofit/>
          </a:bodyPr>
          <a:lstStyle/>
          <a:p>
            <a:pPr>
              <a:spcAft>
                <a:spcPts val="400"/>
              </a:spcAft>
            </a:pPr>
            <a:r>
              <a:rPr lang="en-US" sz="1400">
                <a:solidFill>
                  <a:srgbClr val="C5DDCB"/>
                </a:solidFill>
                <a:latin typeface="Aptos" panose="020B0004020202020204" pitchFamily="34" charset="0"/>
              </a:rPr>
              <a:t>Identity + SMS + jurisdiction + authority delivery, deployment and device checks.</a:t>
            </a:r>
          </a:p>
        </p:txBody>
      </p:sp>
      <p:sp>
        <p:nvSpPr>
          <p:cNvPr id="21" name="TextBox 20">
            <a:extLst>
              <a:ext uri="{FF2B5EF4-FFF2-40B4-BE49-F238E27FC236}">
                <a16:creationId xmlns:a16="http://schemas.microsoft.com/office/drawing/2014/main" id="{476AB923-C3E9-B4AE-BD81-768CBB167743}"/>
              </a:ext>
            </a:extLst>
          </p:cNvPr>
          <p:cNvSpPr txBox="1"/>
          <p:nvPr/>
        </p:nvSpPr>
        <p:spPr>
          <a:xfrm>
            <a:off x="533400" y="6134100"/>
            <a:ext cx="11125200" cy="215900"/>
          </a:xfrm>
          <a:prstGeom prst="rect">
            <a:avLst/>
          </a:prstGeom>
          <a:noFill/>
        </p:spPr>
        <p:txBody>
          <a:bodyPr vert="horz" wrap="square" lIns="0" tIns="0" rIns="0" bIns="0" rtlCol="0">
            <a:noAutofit/>
          </a:bodyPr>
          <a:lstStyle/>
          <a:p>
            <a:pPr>
              <a:spcAft>
                <a:spcPts val="400"/>
              </a:spcAft>
            </a:pPr>
            <a:r>
              <a:rPr lang="en-US" sz="1100">
                <a:solidFill>
                  <a:srgbClr val="C5DDCB"/>
                </a:solidFill>
                <a:latin typeface="Aptos" panose="020B0004020202020204" pitchFamily="34" charset="0"/>
              </a:rPr>
              <a:t>From a problem in the neighbourhood to a clear next step. Thank you.</a:t>
            </a:r>
          </a:p>
        </p:txBody>
      </p:sp>
    </p:spTree>
    <p:extLst>
      <p:ext uri="{BB962C8B-B14F-4D97-AF65-F5344CB8AC3E}">
        <p14:creationId xmlns:p14="http://schemas.microsoft.com/office/powerpoint/2010/main" val="363138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bg>
      <p:bgPr>
        <a:solidFill>
          <a:srgbClr val="F5F2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A0BCE92-179E-49FD-3DDB-DE3EDE714CF2}"/>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C3A813B-D0D0-0DCD-731F-F8F84C21D2A2}"/>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60756B"/>
                </a:solidFill>
                <a:latin typeface="Aptos" panose="020B0004020202020204" pitchFamily="34" charset="0"/>
              </a:rPr>
              <a:t>Q&amp;A / IMPLEMENTATION BOUNDARIES</a:t>
            </a:r>
          </a:p>
        </p:txBody>
      </p:sp>
      <p:sp>
        <p:nvSpPr>
          <p:cNvPr id="4" name="TextBox 3">
            <a:extLst>
              <a:ext uri="{FF2B5EF4-FFF2-40B4-BE49-F238E27FC236}">
                <a16:creationId xmlns:a16="http://schemas.microsoft.com/office/drawing/2014/main" id="{44DFBE0E-420F-C5FF-A524-DBEBF6A9BA82}"/>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203D33"/>
                </a:solidFill>
                <a:latin typeface="Aptos" panose="020B0004020202020204" pitchFamily="34" charset="0"/>
              </a:rPr>
              <a:t>What works—and what is simulated.</a:t>
            </a:r>
          </a:p>
        </p:txBody>
      </p:sp>
      <p:sp>
        <p:nvSpPr>
          <p:cNvPr id="5" name="TextBox 4">
            <a:extLst>
              <a:ext uri="{FF2B5EF4-FFF2-40B4-BE49-F238E27FC236}">
                <a16:creationId xmlns:a16="http://schemas.microsoft.com/office/drawing/2014/main" id="{5C3A731E-6191-A085-3588-97894A98BB5D}"/>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60756B"/>
                </a:solidFill>
                <a:latin typeface="Aptos" panose="020B0004020202020204" pitchFamily="34" charset="0"/>
              </a:rPr>
              <a:t>Implemented workflows and explicit pilot boundaries.</a:t>
            </a:r>
          </a:p>
        </p:txBody>
      </p:sp>
      <p:cxnSp>
        <p:nvCxnSpPr>
          <p:cNvPr id="6" name="Straight Connector 5">
            <a:extLst>
              <a:ext uri="{FF2B5EF4-FFF2-40B4-BE49-F238E27FC236}">
                <a16:creationId xmlns:a16="http://schemas.microsoft.com/office/drawing/2014/main" id="{539E1586-261E-ABE4-E59D-1A67D1B1DF44}"/>
              </a:ext>
            </a:extLst>
          </p:cNvPr>
          <p:cNvCxnSpPr/>
          <p:nvPr/>
        </p:nvCxnSpPr>
        <p:spPr>
          <a:xfrm>
            <a:off x="533400" y="6426200"/>
            <a:ext cx="111252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48710E2A-AC1E-89D8-E9A2-5587DE407364}"/>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60756B"/>
                </a:solidFill>
                <a:latin typeface="Aptos" panose="020B0004020202020204" pitchFamily="34" charset="0"/>
              </a:rPr>
              <a:t>MOSHKELTI   /   AI QUEST 2026   /   next.society()</a:t>
            </a:r>
            <a:endParaRPr lang="en-US" sz="900" b="1">
              <a:solidFill>
                <a:srgbClr val="60756B"/>
              </a:solidFill>
              <a:latin typeface="Aptos" panose="020B0004020202020204" pitchFamily="34" charset="0"/>
            </a:endParaRPr>
          </a:p>
        </p:txBody>
      </p:sp>
      <p:sp>
        <p:nvSpPr>
          <p:cNvPr id="8" name="TextBox 7">
            <a:extLst>
              <a:ext uri="{FF2B5EF4-FFF2-40B4-BE49-F238E27FC236}">
                <a16:creationId xmlns:a16="http://schemas.microsoft.com/office/drawing/2014/main" id="{B95769B6-AD13-C4C2-1665-57B73F667220}"/>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60756B"/>
                </a:solidFill>
                <a:latin typeface="Aptos" panose="020B0004020202020204" pitchFamily="34" charset="0"/>
              </a:rPr>
              <a:t>Q&amp;A 1</a:t>
            </a:r>
          </a:p>
        </p:txBody>
      </p:sp>
      <p:sp>
        <p:nvSpPr>
          <p:cNvPr id="9" name="Rectangle: Rounded Corners 8">
            <a:extLst>
              <a:ext uri="{FF2B5EF4-FFF2-40B4-BE49-F238E27FC236}">
                <a16:creationId xmlns:a16="http://schemas.microsoft.com/office/drawing/2014/main" id="{41DF048D-6945-ECF8-07BC-10606F0A7AE0}"/>
              </a:ext>
            </a:extLst>
          </p:cNvPr>
          <p:cNvSpPr/>
          <p:nvPr/>
        </p:nvSpPr>
        <p:spPr>
          <a:xfrm>
            <a:off x="533400" y="2679700"/>
            <a:ext cx="5397500" cy="34163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B104874-6710-4139-B7C2-D07553027A2A}"/>
              </a:ext>
            </a:extLst>
          </p:cNvPr>
          <p:cNvSpPr txBox="1"/>
          <p:nvPr/>
        </p:nvSpPr>
        <p:spPr>
          <a:xfrm>
            <a:off x="787400" y="2908299"/>
            <a:ext cx="48895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IMPLEMENTED</a:t>
            </a:r>
          </a:p>
        </p:txBody>
      </p:sp>
      <p:sp>
        <p:nvSpPr>
          <p:cNvPr id="11" name="TextBox 10">
            <a:extLst>
              <a:ext uri="{FF2B5EF4-FFF2-40B4-BE49-F238E27FC236}">
                <a16:creationId xmlns:a16="http://schemas.microsoft.com/office/drawing/2014/main" id="{5A1F93E2-AD2A-2DFD-AFC2-42F720C97E78}"/>
              </a:ext>
            </a:extLst>
          </p:cNvPr>
          <p:cNvSpPr txBox="1"/>
          <p:nvPr/>
        </p:nvSpPr>
        <p:spPr>
          <a:xfrm>
            <a:off x="787400" y="3327399"/>
            <a:ext cx="48895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The software workflow</a:t>
            </a:r>
          </a:p>
        </p:txBody>
      </p:sp>
      <p:sp>
        <p:nvSpPr>
          <p:cNvPr id="12" name="TextBox 11">
            <a:extLst>
              <a:ext uri="{FF2B5EF4-FFF2-40B4-BE49-F238E27FC236}">
                <a16:creationId xmlns:a16="http://schemas.microsoft.com/office/drawing/2014/main" id="{23708112-3C92-6DF5-7BEA-E7E6A5882561}"/>
              </a:ext>
            </a:extLst>
          </p:cNvPr>
          <p:cNvSpPr txBox="1"/>
          <p:nvPr/>
        </p:nvSpPr>
        <p:spPr>
          <a:xfrm>
            <a:off x="787400" y="4267199"/>
            <a:ext cx="4889500" cy="16510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National-ID/password flow; local OTP stages; citizen forms; private images; validated triage; human review; appeals; versions; queued outbox; signed APK build.</a:t>
            </a:r>
          </a:p>
        </p:txBody>
      </p:sp>
      <p:sp>
        <p:nvSpPr>
          <p:cNvPr id="13" name="Rectangle: Rounded Corners 12">
            <a:extLst>
              <a:ext uri="{FF2B5EF4-FFF2-40B4-BE49-F238E27FC236}">
                <a16:creationId xmlns:a16="http://schemas.microsoft.com/office/drawing/2014/main" id="{58382EE5-D60F-45E3-421A-FB6B593CE4FD}"/>
              </a:ext>
            </a:extLst>
          </p:cNvPr>
          <p:cNvSpPr/>
          <p:nvPr/>
        </p:nvSpPr>
        <p:spPr>
          <a:xfrm>
            <a:off x="6261100" y="2679700"/>
            <a:ext cx="5397500" cy="34163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093A586-7854-8165-3D3D-D10DFC290384}"/>
              </a:ext>
            </a:extLst>
          </p:cNvPr>
          <p:cNvSpPr txBox="1"/>
          <p:nvPr/>
        </p:nvSpPr>
        <p:spPr>
          <a:xfrm>
            <a:off x="6515100" y="2908299"/>
            <a:ext cx="48895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NOT A LIVE GOVERNMENT SERVICE</a:t>
            </a:r>
          </a:p>
        </p:txBody>
      </p:sp>
      <p:sp>
        <p:nvSpPr>
          <p:cNvPr id="15" name="TextBox 14">
            <a:extLst>
              <a:ext uri="{FF2B5EF4-FFF2-40B4-BE49-F238E27FC236}">
                <a16:creationId xmlns:a16="http://schemas.microsoft.com/office/drawing/2014/main" id="{B551B785-A053-FA43-4A5C-99B40D8DB53E}"/>
              </a:ext>
            </a:extLst>
          </p:cNvPr>
          <p:cNvSpPr txBox="1"/>
          <p:nvPr/>
        </p:nvSpPr>
        <p:spPr>
          <a:xfrm>
            <a:off x="6515100" y="3327399"/>
            <a:ext cx="48895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Explicit pilot limits</a:t>
            </a:r>
          </a:p>
        </p:txBody>
      </p:sp>
      <p:sp>
        <p:nvSpPr>
          <p:cNvPr id="16" name="TextBox 15">
            <a:extLst>
              <a:ext uri="{FF2B5EF4-FFF2-40B4-BE49-F238E27FC236}">
                <a16:creationId xmlns:a16="http://schemas.microsoft.com/office/drawing/2014/main" id="{A6E19029-7C85-9123-9247-63A4B85D18CC}"/>
              </a:ext>
            </a:extLst>
          </p:cNvPr>
          <p:cNvSpPr txBox="1"/>
          <p:nvPr/>
        </p:nvSpPr>
        <p:spPr>
          <a:xfrm>
            <a:off x="6515100" y="4267199"/>
            <a:ext cx="4889500" cy="16510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Identity data and SMS are synthetic/local. Authorities and delivery are simulated. No trained model or image inference. Phone, impact and load testing are not proven by CI.</a:t>
            </a:r>
          </a:p>
        </p:txBody>
      </p:sp>
    </p:spTree>
    <p:extLst>
      <p:ext uri="{BB962C8B-B14F-4D97-AF65-F5344CB8AC3E}">
        <p14:creationId xmlns:p14="http://schemas.microsoft.com/office/powerpoint/2010/main" val="2353720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bg>
      <p:bgPr>
        <a:solidFill>
          <a:srgbClr val="F5F2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5F8F723-4312-E7E0-E402-8EA1C1F276AB}"/>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89CFEA08-B95D-F56D-006A-FC7A6CBEFEED}"/>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60756B"/>
                </a:solidFill>
                <a:latin typeface="Aptos" panose="020B0004020202020204" pitchFamily="34" charset="0"/>
              </a:rPr>
              <a:t>Q&amp;A / COMPETITIVE CONTEXT</a:t>
            </a:r>
          </a:p>
        </p:txBody>
      </p:sp>
      <p:sp>
        <p:nvSpPr>
          <p:cNvPr id="4" name="TextBox 3">
            <a:extLst>
              <a:ext uri="{FF2B5EF4-FFF2-40B4-BE49-F238E27FC236}">
                <a16:creationId xmlns:a16="http://schemas.microsoft.com/office/drawing/2014/main" id="{E206C5E8-1529-7A0E-4C24-E08301D0FEA8}"/>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203D33"/>
                </a:solidFill>
                <a:latin typeface="Aptos" panose="020B0004020202020204" pitchFamily="34" charset="0"/>
              </a:rPr>
              <a:t>Review preparation—not another reporting channel.</a:t>
            </a:r>
          </a:p>
        </p:txBody>
      </p:sp>
      <p:sp>
        <p:nvSpPr>
          <p:cNvPr id="5" name="TextBox 4">
            <a:extLst>
              <a:ext uri="{FF2B5EF4-FFF2-40B4-BE49-F238E27FC236}">
                <a16:creationId xmlns:a16="http://schemas.microsoft.com/office/drawing/2014/main" id="{815A56F9-149C-4D7C-17BF-AFDB86EE5B6D}"/>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60756B"/>
                </a:solidFill>
                <a:latin typeface="Aptos" panose="020B0004020202020204" pitchFamily="34" charset="0"/>
              </a:rPr>
              <a:t>Amman Is Listening already advertises photos, geolocation, tracking and Arabic/English support.</a:t>
            </a:r>
          </a:p>
        </p:txBody>
      </p:sp>
      <p:cxnSp>
        <p:nvCxnSpPr>
          <p:cNvPr id="6" name="Straight Connector 5">
            <a:extLst>
              <a:ext uri="{FF2B5EF4-FFF2-40B4-BE49-F238E27FC236}">
                <a16:creationId xmlns:a16="http://schemas.microsoft.com/office/drawing/2014/main" id="{E4419E25-3529-8218-DA4B-EB43E4E4216E}"/>
              </a:ext>
            </a:extLst>
          </p:cNvPr>
          <p:cNvCxnSpPr/>
          <p:nvPr/>
        </p:nvCxnSpPr>
        <p:spPr>
          <a:xfrm>
            <a:off x="533400" y="6426200"/>
            <a:ext cx="111252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283DD684-C0D1-3450-1477-D27B1F77D1C4}"/>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60756B"/>
                </a:solidFill>
                <a:latin typeface="Aptos" panose="020B0004020202020204" pitchFamily="34" charset="0"/>
              </a:rPr>
              <a:t>MOSHKELTI   /   AI QUEST 2026   /   next.society()</a:t>
            </a:r>
            <a:endParaRPr lang="en-US" sz="900" b="1">
              <a:solidFill>
                <a:srgbClr val="60756B"/>
              </a:solidFill>
              <a:latin typeface="Aptos" panose="020B0004020202020204" pitchFamily="34" charset="0"/>
            </a:endParaRPr>
          </a:p>
        </p:txBody>
      </p:sp>
      <p:sp>
        <p:nvSpPr>
          <p:cNvPr id="8" name="TextBox 7">
            <a:extLst>
              <a:ext uri="{FF2B5EF4-FFF2-40B4-BE49-F238E27FC236}">
                <a16:creationId xmlns:a16="http://schemas.microsoft.com/office/drawing/2014/main" id="{21A8DFC7-3B15-EF40-5778-F3D53717D7D3}"/>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60756B"/>
                </a:solidFill>
                <a:latin typeface="Aptos" panose="020B0004020202020204" pitchFamily="34" charset="0"/>
              </a:rPr>
              <a:t>Q&amp;A 2</a:t>
            </a:r>
          </a:p>
        </p:txBody>
      </p:sp>
      <p:sp>
        <p:nvSpPr>
          <p:cNvPr id="9" name="Rectangle: Rounded Corners 8">
            <a:extLst>
              <a:ext uri="{FF2B5EF4-FFF2-40B4-BE49-F238E27FC236}">
                <a16:creationId xmlns:a16="http://schemas.microsoft.com/office/drawing/2014/main" id="{5B941C96-F5AC-D129-DDCD-17B6FE4FA72F}"/>
              </a:ext>
            </a:extLst>
          </p:cNvPr>
          <p:cNvSpPr/>
          <p:nvPr/>
        </p:nvSpPr>
        <p:spPr>
          <a:xfrm>
            <a:off x="533400" y="2692400"/>
            <a:ext cx="5397500" cy="29591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60170325-F646-DBF4-2736-1082AA4E7076}"/>
              </a:ext>
            </a:extLst>
          </p:cNvPr>
          <p:cNvSpPr txBox="1"/>
          <p:nvPr/>
        </p:nvSpPr>
        <p:spPr>
          <a:xfrm>
            <a:off x="787400" y="2920999"/>
            <a:ext cx="48895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OFFICIAL CHANNELS · PUBLISHED FEATURES</a:t>
            </a:r>
          </a:p>
        </p:txBody>
      </p:sp>
      <p:sp>
        <p:nvSpPr>
          <p:cNvPr id="11" name="TextBox 10">
            <a:extLst>
              <a:ext uri="{FF2B5EF4-FFF2-40B4-BE49-F238E27FC236}">
                <a16:creationId xmlns:a16="http://schemas.microsoft.com/office/drawing/2014/main" id="{6E30452F-9DB9-D587-BA42-75D20A54B871}"/>
              </a:ext>
            </a:extLst>
          </p:cNvPr>
          <p:cNvSpPr txBox="1"/>
          <p:nvPr/>
        </p:nvSpPr>
        <p:spPr>
          <a:xfrm>
            <a:off x="787400" y="3340099"/>
            <a:ext cx="48895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Reporting already exists</a:t>
            </a:r>
          </a:p>
        </p:txBody>
      </p:sp>
      <p:sp>
        <p:nvSpPr>
          <p:cNvPr id="12" name="TextBox 11">
            <a:extLst>
              <a:ext uri="{FF2B5EF4-FFF2-40B4-BE49-F238E27FC236}">
                <a16:creationId xmlns:a16="http://schemas.microsoft.com/office/drawing/2014/main" id="{DA02EDE0-A996-45F9-009C-E80FC05E8C7C}"/>
              </a:ext>
            </a:extLst>
          </p:cNvPr>
          <p:cNvSpPr txBox="1"/>
          <p:nvPr/>
        </p:nvSpPr>
        <p:spPr>
          <a:xfrm>
            <a:off x="787400" y="4279899"/>
            <a:ext cx="4889500" cy="11938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GAM has an official citizen app and complaint portal. MoDEE refers citizens to Bekhidmetkom. We have not independently benchmarked their AI or reviewer workflows.</a:t>
            </a:r>
          </a:p>
        </p:txBody>
      </p:sp>
      <p:sp>
        <p:nvSpPr>
          <p:cNvPr id="13" name="Rectangle: Rounded Corners 12">
            <a:extLst>
              <a:ext uri="{FF2B5EF4-FFF2-40B4-BE49-F238E27FC236}">
                <a16:creationId xmlns:a16="http://schemas.microsoft.com/office/drawing/2014/main" id="{F6DE999E-C804-1A05-8E25-0F4E16C74962}"/>
              </a:ext>
            </a:extLst>
          </p:cNvPr>
          <p:cNvSpPr/>
          <p:nvPr/>
        </p:nvSpPr>
        <p:spPr>
          <a:xfrm>
            <a:off x="6261100" y="2692400"/>
            <a:ext cx="5397500" cy="29591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5DAF743-637E-6B2F-09D4-A1C33E46C18A}"/>
              </a:ext>
            </a:extLst>
          </p:cNvPr>
          <p:cNvSpPr txBox="1"/>
          <p:nvPr/>
        </p:nvSpPr>
        <p:spPr>
          <a:xfrm>
            <a:off x="6515100" y="2920999"/>
            <a:ext cx="48895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OUR DEMONSTRABLE ANGLE</a:t>
            </a:r>
          </a:p>
        </p:txBody>
      </p:sp>
      <p:sp>
        <p:nvSpPr>
          <p:cNvPr id="15" name="TextBox 14">
            <a:extLst>
              <a:ext uri="{FF2B5EF4-FFF2-40B4-BE49-F238E27FC236}">
                <a16:creationId xmlns:a16="http://schemas.microsoft.com/office/drawing/2014/main" id="{5F5CA272-9C07-2421-AA18-6BE0A32ADBB7}"/>
              </a:ext>
            </a:extLst>
          </p:cNvPr>
          <p:cNvSpPr txBox="1"/>
          <p:nvPr/>
        </p:nvSpPr>
        <p:spPr>
          <a:xfrm>
            <a:off x="6515100" y="3340099"/>
            <a:ext cx="48895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Review preparation</a:t>
            </a:r>
          </a:p>
        </p:txBody>
      </p:sp>
      <p:sp>
        <p:nvSpPr>
          <p:cNvPr id="16" name="TextBox 15">
            <a:extLst>
              <a:ext uri="{FF2B5EF4-FFF2-40B4-BE49-F238E27FC236}">
                <a16:creationId xmlns:a16="http://schemas.microsoft.com/office/drawing/2014/main" id="{B4113226-F7F6-BA12-AA4E-A83EC8E2988F}"/>
              </a:ext>
            </a:extLst>
          </p:cNvPr>
          <p:cNvSpPr txBox="1"/>
          <p:nvPr/>
        </p:nvSpPr>
        <p:spPr>
          <a:xfrm>
            <a:off x="6515100" y="4279899"/>
            <a:ext cx="4889500" cy="11938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Structured model suggestions, bilingual missing-information questions, human decision gates, private/public separation and auditable state transitions. Not proven globally unique.</a:t>
            </a:r>
          </a:p>
        </p:txBody>
      </p:sp>
      <p:sp>
        <p:nvSpPr>
          <p:cNvPr id="17" name="TextBox 16">
            <a:hlinkClick r:id="rId3"/>
            <a:extLst>
              <a:ext uri="{FF2B5EF4-FFF2-40B4-BE49-F238E27FC236}">
                <a16:creationId xmlns:a16="http://schemas.microsoft.com/office/drawing/2014/main" id="{D1815414-FED6-C5FA-2EF5-0A3E316F21AE}"/>
              </a:ext>
            </a:extLst>
          </p:cNvPr>
          <p:cNvSpPr txBox="1"/>
          <p:nvPr/>
        </p:nvSpPr>
        <p:spPr>
          <a:xfrm>
            <a:off x="533400" y="5867399"/>
            <a:ext cx="11125200" cy="355600"/>
          </a:xfrm>
          <a:prstGeom prst="rect">
            <a:avLst/>
          </a:prstGeom>
          <a:noFill/>
        </p:spPr>
        <p:txBody>
          <a:bodyPr vert="horz" wrap="square" lIns="0" tIns="0" rIns="0" bIns="0" rtlCol="0">
            <a:noAutofit/>
          </a:bodyPr>
          <a:lstStyle/>
          <a:p>
            <a:pPr>
              <a:spcAft>
                <a:spcPts val="400"/>
              </a:spcAft>
            </a:pPr>
            <a:r>
              <a:rPr lang="en-US" sz="1100">
                <a:solidFill>
                  <a:srgbClr val="60756B"/>
                </a:solidFill>
                <a:latin typeface="Aptos" panose="020B0004020202020204" pitchFamily="34" charset="0"/>
              </a:rPr>
              <a:t>Source: official GAM Play listing + GAM complaint portal + MoDEE services. Accessed 10 Oct 2026.</a:t>
            </a:r>
          </a:p>
        </p:txBody>
      </p:sp>
    </p:spTree>
    <p:extLst>
      <p:ext uri="{BB962C8B-B14F-4D97-AF65-F5344CB8AC3E}">
        <p14:creationId xmlns:p14="http://schemas.microsoft.com/office/powerpoint/2010/main" val="27901862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bg>
      <p:bgPr>
        <a:solidFill>
          <a:srgbClr val="F5F2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25D3D4-D813-9C73-1E25-70ECCBB5E44B}"/>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19F51FC-F2F8-B3B4-238F-E2D42A3496CF}"/>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60756B"/>
                </a:solidFill>
                <a:latin typeface="Aptos" panose="020B0004020202020204" pitchFamily="34" charset="0"/>
              </a:rPr>
              <a:t>Q&amp;A / EVALUATION PLAN—NOT RESULTS</a:t>
            </a:r>
          </a:p>
        </p:txBody>
      </p:sp>
      <p:sp>
        <p:nvSpPr>
          <p:cNvPr id="4" name="TextBox 3">
            <a:extLst>
              <a:ext uri="{FF2B5EF4-FFF2-40B4-BE49-F238E27FC236}">
                <a16:creationId xmlns:a16="http://schemas.microsoft.com/office/drawing/2014/main" id="{48A79FB9-234E-AEA4-F882-53EE1C2584C1}"/>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203D33"/>
                </a:solidFill>
                <a:latin typeface="Aptos" panose="020B0004020202020204" pitchFamily="34" charset="0"/>
              </a:rPr>
              <a:t>Prove usefulness before promising impact.</a:t>
            </a:r>
          </a:p>
        </p:txBody>
      </p:sp>
      <p:sp>
        <p:nvSpPr>
          <p:cNvPr id="5" name="TextBox 4">
            <a:extLst>
              <a:ext uri="{FF2B5EF4-FFF2-40B4-BE49-F238E27FC236}">
                <a16:creationId xmlns:a16="http://schemas.microsoft.com/office/drawing/2014/main" id="{D8FC778D-BB69-4811-8B21-0110E37E2B44}"/>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60756B"/>
                </a:solidFill>
                <a:latin typeface="Aptos" panose="020B0004020202020204" pitchFamily="34" charset="0"/>
              </a:rPr>
              <a:t>Proposed evaluation: 100 synthetic cases; 60 Arabic, 20 English and 20 mixed-language.</a:t>
            </a:r>
          </a:p>
        </p:txBody>
      </p:sp>
      <p:cxnSp>
        <p:nvCxnSpPr>
          <p:cNvPr id="6" name="Straight Connector 5">
            <a:extLst>
              <a:ext uri="{FF2B5EF4-FFF2-40B4-BE49-F238E27FC236}">
                <a16:creationId xmlns:a16="http://schemas.microsoft.com/office/drawing/2014/main" id="{964553E0-5A22-643B-38C9-2983A6D9E328}"/>
              </a:ext>
            </a:extLst>
          </p:cNvPr>
          <p:cNvCxnSpPr/>
          <p:nvPr/>
        </p:nvCxnSpPr>
        <p:spPr>
          <a:xfrm>
            <a:off x="533400" y="6426200"/>
            <a:ext cx="111252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73726F4F-2717-9E04-7D42-05FDCEABC952}"/>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60756B"/>
                </a:solidFill>
                <a:latin typeface="Aptos" panose="020B0004020202020204" pitchFamily="34" charset="0"/>
              </a:rPr>
              <a:t>MOSHKELTI   /   AI QUEST 2026   /   next.society()</a:t>
            </a:r>
            <a:endParaRPr lang="en-US" sz="900" b="1">
              <a:solidFill>
                <a:srgbClr val="60756B"/>
              </a:solidFill>
              <a:latin typeface="Aptos" panose="020B0004020202020204" pitchFamily="34" charset="0"/>
            </a:endParaRPr>
          </a:p>
        </p:txBody>
      </p:sp>
      <p:sp>
        <p:nvSpPr>
          <p:cNvPr id="8" name="TextBox 7">
            <a:extLst>
              <a:ext uri="{FF2B5EF4-FFF2-40B4-BE49-F238E27FC236}">
                <a16:creationId xmlns:a16="http://schemas.microsoft.com/office/drawing/2014/main" id="{1A796B14-3094-27B6-4BD5-4C458F6D7DEF}"/>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60756B"/>
                </a:solidFill>
                <a:latin typeface="Aptos" panose="020B0004020202020204" pitchFamily="34" charset="0"/>
              </a:rPr>
              <a:t>Q&amp;A 3</a:t>
            </a:r>
          </a:p>
        </p:txBody>
      </p:sp>
      <p:sp>
        <p:nvSpPr>
          <p:cNvPr id="9" name="Rectangle: Rounded Corners 8">
            <a:extLst>
              <a:ext uri="{FF2B5EF4-FFF2-40B4-BE49-F238E27FC236}">
                <a16:creationId xmlns:a16="http://schemas.microsoft.com/office/drawing/2014/main" id="{6E77075B-1787-D9D6-31A3-73C53F1809A1}"/>
              </a:ext>
            </a:extLst>
          </p:cNvPr>
          <p:cNvSpPr/>
          <p:nvPr/>
        </p:nvSpPr>
        <p:spPr>
          <a:xfrm>
            <a:off x="533400" y="2717800"/>
            <a:ext cx="3530600" cy="33147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6436016-CFE1-C80F-0C63-17A193855FDE}"/>
              </a:ext>
            </a:extLst>
          </p:cNvPr>
          <p:cNvSpPr txBox="1"/>
          <p:nvPr/>
        </p:nvSpPr>
        <p:spPr>
          <a:xfrm>
            <a:off x="787400" y="29463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MODEL QUALITY</a:t>
            </a:r>
          </a:p>
        </p:txBody>
      </p:sp>
      <p:sp>
        <p:nvSpPr>
          <p:cNvPr id="11" name="TextBox 10">
            <a:extLst>
              <a:ext uri="{FF2B5EF4-FFF2-40B4-BE49-F238E27FC236}">
                <a16:creationId xmlns:a16="http://schemas.microsoft.com/office/drawing/2014/main" id="{4271FA5F-BEBB-7F62-58C6-DFBD3F880D91}"/>
              </a:ext>
            </a:extLst>
          </p:cNvPr>
          <p:cNvSpPr txBox="1"/>
          <p:nvPr/>
        </p:nvSpPr>
        <p:spPr>
          <a:xfrm>
            <a:off x="787400" y="33654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Reviewer-labelled set</a:t>
            </a:r>
          </a:p>
        </p:txBody>
      </p:sp>
      <p:sp>
        <p:nvSpPr>
          <p:cNvPr id="12" name="TextBox 11">
            <a:extLst>
              <a:ext uri="{FF2B5EF4-FFF2-40B4-BE49-F238E27FC236}">
                <a16:creationId xmlns:a16="http://schemas.microsoft.com/office/drawing/2014/main" id="{8CA31EFF-579F-9AA5-ACC5-D91D5AC5695B}"/>
              </a:ext>
            </a:extLst>
          </p:cNvPr>
          <p:cNvSpPr txBox="1"/>
          <p:nvPr/>
        </p:nvSpPr>
        <p:spPr>
          <a:xfrm>
            <a:off x="787400" y="4305299"/>
            <a:ext cx="3022600" cy="15494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Two reviewers + adjudication. Measure category/classification precision, recall and macro-F1; track unsafe outputs and needed overrides. No current score claimed.</a:t>
            </a:r>
          </a:p>
        </p:txBody>
      </p:sp>
      <p:sp>
        <p:nvSpPr>
          <p:cNvPr id="13" name="Rectangle: Rounded Corners 12">
            <a:extLst>
              <a:ext uri="{FF2B5EF4-FFF2-40B4-BE49-F238E27FC236}">
                <a16:creationId xmlns:a16="http://schemas.microsoft.com/office/drawing/2014/main" id="{784CEED8-7013-29D7-8CBC-F4E1F41205F1}"/>
              </a:ext>
            </a:extLst>
          </p:cNvPr>
          <p:cNvSpPr/>
          <p:nvPr/>
        </p:nvSpPr>
        <p:spPr>
          <a:xfrm>
            <a:off x="4330700" y="2717800"/>
            <a:ext cx="3530600" cy="33147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3724949F-5325-55ED-6AE0-316FBD87F5EF}"/>
              </a:ext>
            </a:extLst>
          </p:cNvPr>
          <p:cNvSpPr txBox="1"/>
          <p:nvPr/>
        </p:nvSpPr>
        <p:spPr>
          <a:xfrm>
            <a:off x="4584700" y="29463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USER + OPERATOR VALUE</a:t>
            </a:r>
          </a:p>
        </p:txBody>
      </p:sp>
      <p:sp>
        <p:nvSpPr>
          <p:cNvPr id="15" name="TextBox 14">
            <a:extLst>
              <a:ext uri="{FF2B5EF4-FFF2-40B4-BE49-F238E27FC236}">
                <a16:creationId xmlns:a16="http://schemas.microsoft.com/office/drawing/2014/main" id="{54540FC9-87CD-2CC1-DF65-63492F957927}"/>
              </a:ext>
            </a:extLst>
          </p:cNvPr>
          <p:cNvSpPr txBox="1"/>
          <p:nvPr/>
        </p:nvSpPr>
        <p:spPr>
          <a:xfrm>
            <a:off x="4584700" y="33654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Comparable workflows</a:t>
            </a:r>
          </a:p>
        </p:txBody>
      </p:sp>
      <p:sp>
        <p:nvSpPr>
          <p:cNvPr id="16" name="TextBox 15">
            <a:extLst>
              <a:ext uri="{FF2B5EF4-FFF2-40B4-BE49-F238E27FC236}">
                <a16:creationId xmlns:a16="http://schemas.microsoft.com/office/drawing/2014/main" id="{E1D1273D-DBE6-E23F-A5A7-17C5D7D22F8A}"/>
              </a:ext>
            </a:extLst>
          </p:cNvPr>
          <p:cNvSpPr txBox="1"/>
          <p:nvPr/>
        </p:nvSpPr>
        <p:spPr>
          <a:xfrm>
            <a:off x="4584700" y="4305299"/>
            <a:ext cx="3022600" cy="15494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Compare review time, completeness and clarification loops on matched case types. Test Arabic task completion and privacy exposure. No promised repair-time reduction.</a:t>
            </a:r>
          </a:p>
        </p:txBody>
      </p:sp>
      <p:sp>
        <p:nvSpPr>
          <p:cNvPr id="17" name="Rectangle: Rounded Corners 16">
            <a:extLst>
              <a:ext uri="{FF2B5EF4-FFF2-40B4-BE49-F238E27FC236}">
                <a16:creationId xmlns:a16="http://schemas.microsoft.com/office/drawing/2014/main" id="{F6EE0033-9EA7-FE83-CC56-D54572AFE397}"/>
              </a:ext>
            </a:extLst>
          </p:cNvPr>
          <p:cNvSpPr/>
          <p:nvPr/>
        </p:nvSpPr>
        <p:spPr>
          <a:xfrm>
            <a:off x="8128000" y="2717800"/>
            <a:ext cx="3530600" cy="33147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7FDEC770-554C-52C6-613A-5DA319B67448}"/>
              </a:ext>
            </a:extLst>
          </p:cNvPr>
          <p:cNvSpPr txBox="1"/>
          <p:nvPr/>
        </p:nvSpPr>
        <p:spPr>
          <a:xfrm>
            <a:off x="8382000" y="29463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FAILURE + ABUSE</a:t>
            </a:r>
          </a:p>
        </p:txBody>
      </p:sp>
      <p:sp>
        <p:nvSpPr>
          <p:cNvPr id="19" name="TextBox 18">
            <a:extLst>
              <a:ext uri="{FF2B5EF4-FFF2-40B4-BE49-F238E27FC236}">
                <a16:creationId xmlns:a16="http://schemas.microsoft.com/office/drawing/2014/main" id="{28B83DFA-A005-723E-B625-4C6A328E989D}"/>
              </a:ext>
            </a:extLst>
          </p:cNvPr>
          <p:cNvSpPr txBox="1"/>
          <p:nvPr/>
        </p:nvSpPr>
        <p:spPr>
          <a:xfrm>
            <a:off x="8382000" y="33654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Adversarial checks</a:t>
            </a:r>
          </a:p>
        </p:txBody>
      </p:sp>
      <p:sp>
        <p:nvSpPr>
          <p:cNvPr id="20" name="TextBox 19">
            <a:extLst>
              <a:ext uri="{FF2B5EF4-FFF2-40B4-BE49-F238E27FC236}">
                <a16:creationId xmlns:a16="http://schemas.microsoft.com/office/drawing/2014/main" id="{0568FD70-15F7-6E94-F467-2A0FA6461E47}"/>
              </a:ext>
            </a:extLst>
          </p:cNvPr>
          <p:cNvSpPr txBox="1"/>
          <p:nvPr/>
        </p:nvSpPr>
        <p:spPr>
          <a:xfrm>
            <a:off x="8382000" y="4305299"/>
            <a:ext cx="3022600" cy="15494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Test prompt injection, malformed output, consent denial, provider outage, unclear jurisdiction and sensitive text. Model confidence is not calibrated probability.</a:t>
            </a:r>
          </a:p>
        </p:txBody>
      </p:sp>
    </p:spTree>
    <p:extLst>
      <p:ext uri="{BB962C8B-B14F-4D97-AF65-F5344CB8AC3E}">
        <p14:creationId xmlns:p14="http://schemas.microsoft.com/office/powerpoint/2010/main" val="18099235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bg>
      <p:bgPr>
        <a:solidFill>
          <a:srgbClr val="F5F2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A9120FE-39B8-EDD0-B58D-6888B6879628}"/>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B11298-3456-5A88-8902-DA5FEA8ED061}"/>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60756B"/>
                </a:solidFill>
                <a:latin typeface="Aptos" panose="020B0004020202020204" pitchFamily="34" charset="0"/>
              </a:rPr>
              <a:t>Q&amp;A / UNIT ECONOMICS &amp; SUSTAINABILITY</a:t>
            </a:r>
          </a:p>
        </p:txBody>
      </p:sp>
      <p:sp>
        <p:nvSpPr>
          <p:cNvPr id="4" name="TextBox 3">
            <a:extLst>
              <a:ext uri="{FF2B5EF4-FFF2-40B4-BE49-F238E27FC236}">
                <a16:creationId xmlns:a16="http://schemas.microsoft.com/office/drawing/2014/main" id="{726FB9FB-220D-B252-32D8-B0DAA16B374A}"/>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203D33"/>
                </a:solidFill>
                <a:latin typeface="Aptos" panose="020B0004020202020204" pitchFamily="34" charset="0"/>
              </a:rPr>
              <a:t>Count the whole operating cost.</a:t>
            </a:r>
          </a:p>
        </p:txBody>
      </p:sp>
      <p:sp>
        <p:nvSpPr>
          <p:cNvPr id="5" name="TextBox 4">
            <a:extLst>
              <a:ext uri="{FF2B5EF4-FFF2-40B4-BE49-F238E27FC236}">
                <a16:creationId xmlns:a16="http://schemas.microsoft.com/office/drawing/2014/main" id="{12FCF06D-45C1-6CB2-98D7-7329E8CE0B3E}"/>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60756B"/>
                </a:solidFill>
                <a:latin typeface="Aptos" panose="020B0004020202020204" pitchFamily="34" charset="0"/>
              </a:rPr>
              <a:t>No price, cost saving or revenue has been validated.</a:t>
            </a:r>
          </a:p>
        </p:txBody>
      </p:sp>
      <p:cxnSp>
        <p:nvCxnSpPr>
          <p:cNvPr id="6" name="Straight Connector 5">
            <a:extLst>
              <a:ext uri="{FF2B5EF4-FFF2-40B4-BE49-F238E27FC236}">
                <a16:creationId xmlns:a16="http://schemas.microsoft.com/office/drawing/2014/main" id="{D737F798-71F6-BA9C-3F41-179179198453}"/>
              </a:ext>
            </a:extLst>
          </p:cNvPr>
          <p:cNvCxnSpPr/>
          <p:nvPr/>
        </p:nvCxnSpPr>
        <p:spPr>
          <a:xfrm>
            <a:off x="533400" y="6426200"/>
            <a:ext cx="111252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3F30A74-04C0-2ECF-3D80-18E106371A27}"/>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60756B"/>
                </a:solidFill>
                <a:latin typeface="Aptos" panose="020B0004020202020204" pitchFamily="34" charset="0"/>
              </a:rPr>
              <a:t>MOSHKELTI   /   AI QUEST 2026   /   next.society()</a:t>
            </a:r>
            <a:endParaRPr lang="en-US" sz="900" b="1">
              <a:solidFill>
                <a:srgbClr val="60756B"/>
              </a:solidFill>
              <a:latin typeface="Aptos" panose="020B0004020202020204" pitchFamily="34" charset="0"/>
            </a:endParaRPr>
          </a:p>
        </p:txBody>
      </p:sp>
      <p:sp>
        <p:nvSpPr>
          <p:cNvPr id="8" name="TextBox 7">
            <a:extLst>
              <a:ext uri="{FF2B5EF4-FFF2-40B4-BE49-F238E27FC236}">
                <a16:creationId xmlns:a16="http://schemas.microsoft.com/office/drawing/2014/main" id="{7A7893D9-2D50-4A6A-90D4-3152D5726C9F}"/>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60756B"/>
                </a:solidFill>
                <a:latin typeface="Aptos" panose="020B0004020202020204" pitchFamily="34" charset="0"/>
              </a:rPr>
              <a:t>Q&amp;A 4</a:t>
            </a:r>
          </a:p>
        </p:txBody>
      </p:sp>
      <p:sp>
        <p:nvSpPr>
          <p:cNvPr id="9" name="Rectangle: Rounded Corners 8">
            <a:extLst>
              <a:ext uri="{FF2B5EF4-FFF2-40B4-BE49-F238E27FC236}">
                <a16:creationId xmlns:a16="http://schemas.microsoft.com/office/drawing/2014/main" id="{A5535240-81EB-2906-1176-0AE0D93C7A71}"/>
              </a:ext>
            </a:extLst>
          </p:cNvPr>
          <p:cNvSpPr/>
          <p:nvPr/>
        </p:nvSpPr>
        <p:spPr>
          <a:xfrm>
            <a:off x="533400" y="2730500"/>
            <a:ext cx="11125200" cy="1193800"/>
          </a:xfrm>
          <a:prstGeom prst="roundRect">
            <a:avLst>
              <a:gd name="adj" fmla="val 13000"/>
            </a:avLst>
          </a:prstGeom>
          <a:solidFill>
            <a:srgbClr val="173F3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A361ABF-84FD-4611-7A7B-CB86CB25FEAD}"/>
              </a:ext>
            </a:extLst>
          </p:cNvPr>
          <p:cNvSpPr txBox="1"/>
          <p:nvPr/>
        </p:nvSpPr>
        <p:spPr>
          <a:xfrm>
            <a:off x="800100" y="3009899"/>
            <a:ext cx="10591800" cy="673100"/>
          </a:xfrm>
          <a:prstGeom prst="rect">
            <a:avLst/>
          </a:prstGeom>
          <a:noFill/>
        </p:spPr>
        <p:txBody>
          <a:bodyPr vert="horz" wrap="square" lIns="0" tIns="0" rIns="0" bIns="0" rtlCol="0">
            <a:noAutofit/>
          </a:bodyPr>
          <a:lstStyle/>
          <a:p>
            <a:pPr algn="ctr">
              <a:spcAft>
                <a:spcPts val="400"/>
              </a:spcAft>
            </a:pPr>
            <a:r>
              <a:rPr lang="en-US" sz="2700" b="1">
                <a:solidFill>
                  <a:srgbClr val="FFFFFF"/>
                </a:solidFill>
                <a:latin typeface="Aptos" panose="020B0004020202020204" pitchFamily="34" charset="0"/>
              </a:rPr>
              <a:t>Cost per case = total pilot operating cost / cases handled</a:t>
            </a:r>
          </a:p>
        </p:txBody>
      </p:sp>
      <p:sp>
        <p:nvSpPr>
          <p:cNvPr id="11" name="Rectangle: Rounded Corners 10">
            <a:extLst>
              <a:ext uri="{FF2B5EF4-FFF2-40B4-BE49-F238E27FC236}">
                <a16:creationId xmlns:a16="http://schemas.microsoft.com/office/drawing/2014/main" id="{C5E9A1A2-1F0E-9876-B2C3-2886F4261BA1}"/>
              </a:ext>
            </a:extLst>
          </p:cNvPr>
          <p:cNvSpPr/>
          <p:nvPr/>
        </p:nvSpPr>
        <p:spPr>
          <a:xfrm>
            <a:off x="533400" y="4241800"/>
            <a:ext cx="3530600" cy="18161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EC9985D-2FA7-BAC1-23EF-2E38C4F2EA75}"/>
              </a:ext>
            </a:extLst>
          </p:cNvPr>
          <p:cNvSpPr txBox="1"/>
          <p:nvPr/>
        </p:nvSpPr>
        <p:spPr>
          <a:xfrm>
            <a:off x="787400" y="44703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TECHNICAL COST</a:t>
            </a:r>
          </a:p>
        </p:txBody>
      </p:sp>
      <p:sp>
        <p:nvSpPr>
          <p:cNvPr id="13" name="TextBox 12">
            <a:extLst>
              <a:ext uri="{FF2B5EF4-FFF2-40B4-BE49-F238E27FC236}">
                <a16:creationId xmlns:a16="http://schemas.microsoft.com/office/drawing/2014/main" id="{721F2437-48F4-C389-73A1-1AF0A7CA7761}"/>
              </a:ext>
            </a:extLst>
          </p:cNvPr>
          <p:cNvSpPr txBox="1"/>
          <p:nvPr/>
        </p:nvSpPr>
        <p:spPr>
          <a:xfrm>
            <a:off x="787400" y="4889499"/>
            <a:ext cx="3022600" cy="584200"/>
          </a:xfrm>
          <a:prstGeom prst="rect">
            <a:avLst/>
          </a:prstGeom>
          <a:noFill/>
        </p:spPr>
        <p:txBody>
          <a:bodyPr vert="horz" wrap="square" lIns="0" tIns="0" rIns="0" bIns="0" rtlCol="0">
            <a:noAutofit/>
          </a:bodyPr>
          <a:lstStyle/>
          <a:p>
            <a:pPr>
              <a:spcAft>
                <a:spcPts val="400"/>
              </a:spcAft>
            </a:pPr>
            <a:r>
              <a:rPr lang="en-US" sz="2000" b="1">
                <a:solidFill>
                  <a:srgbClr val="203D33"/>
                </a:solidFill>
                <a:latin typeface="Aptos" panose="020B0004020202020204" pitchFamily="34" charset="0"/>
              </a:rPr>
              <a:t>Compute + storage</a:t>
            </a:r>
          </a:p>
        </p:txBody>
      </p:sp>
      <p:sp>
        <p:nvSpPr>
          <p:cNvPr id="14" name="Rectangle: Rounded Corners 13">
            <a:extLst>
              <a:ext uri="{FF2B5EF4-FFF2-40B4-BE49-F238E27FC236}">
                <a16:creationId xmlns:a16="http://schemas.microsoft.com/office/drawing/2014/main" id="{E20BB1AD-45C8-4408-56DE-3374E49E09D7}"/>
              </a:ext>
            </a:extLst>
          </p:cNvPr>
          <p:cNvSpPr/>
          <p:nvPr/>
        </p:nvSpPr>
        <p:spPr>
          <a:xfrm>
            <a:off x="4330700" y="4241800"/>
            <a:ext cx="3530600" cy="18161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C567C02-E64C-E73B-4D69-DE21BF007B66}"/>
              </a:ext>
            </a:extLst>
          </p:cNvPr>
          <p:cNvSpPr txBox="1"/>
          <p:nvPr/>
        </p:nvSpPr>
        <p:spPr>
          <a:xfrm>
            <a:off x="4584700" y="44703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VARIABLE COST</a:t>
            </a:r>
          </a:p>
        </p:txBody>
      </p:sp>
      <p:sp>
        <p:nvSpPr>
          <p:cNvPr id="16" name="TextBox 15">
            <a:extLst>
              <a:ext uri="{FF2B5EF4-FFF2-40B4-BE49-F238E27FC236}">
                <a16:creationId xmlns:a16="http://schemas.microsoft.com/office/drawing/2014/main" id="{CF51849F-2ACF-53C9-FC82-DF1E2A733315}"/>
              </a:ext>
            </a:extLst>
          </p:cNvPr>
          <p:cNvSpPr txBox="1"/>
          <p:nvPr/>
        </p:nvSpPr>
        <p:spPr>
          <a:xfrm>
            <a:off x="4584700" y="4889499"/>
            <a:ext cx="3022600" cy="584200"/>
          </a:xfrm>
          <a:prstGeom prst="rect">
            <a:avLst/>
          </a:prstGeom>
          <a:noFill/>
        </p:spPr>
        <p:txBody>
          <a:bodyPr vert="horz" wrap="square" lIns="0" tIns="0" rIns="0" bIns="0" rtlCol="0">
            <a:noAutofit/>
          </a:bodyPr>
          <a:lstStyle/>
          <a:p>
            <a:pPr>
              <a:spcAft>
                <a:spcPts val="400"/>
              </a:spcAft>
            </a:pPr>
            <a:r>
              <a:rPr lang="en-US" sz="2000" b="1">
                <a:solidFill>
                  <a:srgbClr val="203D33"/>
                </a:solidFill>
                <a:latin typeface="Aptos" panose="020B0004020202020204" pitchFamily="34" charset="0"/>
              </a:rPr>
              <a:t>AI calls + SMS</a:t>
            </a:r>
          </a:p>
        </p:txBody>
      </p:sp>
      <p:sp>
        <p:nvSpPr>
          <p:cNvPr id="17" name="Rectangle: Rounded Corners 16">
            <a:extLst>
              <a:ext uri="{FF2B5EF4-FFF2-40B4-BE49-F238E27FC236}">
                <a16:creationId xmlns:a16="http://schemas.microsoft.com/office/drawing/2014/main" id="{CC8498E7-AD36-789C-6B22-B07C94E2AD64}"/>
              </a:ext>
            </a:extLst>
          </p:cNvPr>
          <p:cNvSpPr/>
          <p:nvPr/>
        </p:nvSpPr>
        <p:spPr>
          <a:xfrm>
            <a:off x="8128000" y="4241800"/>
            <a:ext cx="3530600" cy="18161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3E5FEB59-5C4D-1192-4FCC-17CBD8B8779F}"/>
              </a:ext>
            </a:extLst>
          </p:cNvPr>
          <p:cNvSpPr txBox="1"/>
          <p:nvPr/>
        </p:nvSpPr>
        <p:spPr>
          <a:xfrm>
            <a:off x="8382000" y="44703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SERVICE COST</a:t>
            </a:r>
          </a:p>
        </p:txBody>
      </p:sp>
      <p:sp>
        <p:nvSpPr>
          <p:cNvPr id="19" name="TextBox 18">
            <a:extLst>
              <a:ext uri="{FF2B5EF4-FFF2-40B4-BE49-F238E27FC236}">
                <a16:creationId xmlns:a16="http://schemas.microsoft.com/office/drawing/2014/main" id="{8FB6F0A1-52CB-EEE4-99C1-D7CC1AF3D715}"/>
              </a:ext>
            </a:extLst>
          </p:cNvPr>
          <p:cNvSpPr txBox="1"/>
          <p:nvPr/>
        </p:nvSpPr>
        <p:spPr>
          <a:xfrm>
            <a:off x="8382000" y="4889499"/>
            <a:ext cx="3022600" cy="584200"/>
          </a:xfrm>
          <a:prstGeom prst="rect">
            <a:avLst/>
          </a:prstGeom>
          <a:noFill/>
        </p:spPr>
        <p:txBody>
          <a:bodyPr vert="horz" wrap="square" lIns="0" tIns="0" rIns="0" bIns="0" rtlCol="0">
            <a:noAutofit/>
          </a:bodyPr>
          <a:lstStyle/>
          <a:p>
            <a:pPr>
              <a:spcAft>
                <a:spcPts val="400"/>
              </a:spcAft>
            </a:pPr>
            <a:r>
              <a:rPr lang="en-US" sz="2000" b="1">
                <a:solidFill>
                  <a:srgbClr val="203D33"/>
                </a:solidFill>
                <a:latin typeface="Aptos" panose="020B0004020202020204" pitchFamily="34" charset="0"/>
              </a:rPr>
              <a:t>Review + support</a:t>
            </a:r>
          </a:p>
        </p:txBody>
      </p:sp>
      <p:sp>
        <p:nvSpPr>
          <p:cNvPr id="20" name="TextBox 19">
            <a:extLst>
              <a:ext uri="{FF2B5EF4-FFF2-40B4-BE49-F238E27FC236}">
                <a16:creationId xmlns:a16="http://schemas.microsoft.com/office/drawing/2014/main" id="{AFBA3CD4-9E03-1D0E-3BF2-6BCB4D40F413}"/>
              </a:ext>
            </a:extLst>
          </p:cNvPr>
          <p:cNvSpPr txBox="1"/>
          <p:nvPr/>
        </p:nvSpPr>
        <p:spPr>
          <a:xfrm>
            <a:off x="787400" y="5511799"/>
            <a:ext cx="3022600" cy="406400"/>
          </a:xfrm>
          <a:prstGeom prst="rect">
            <a:avLst/>
          </a:prstGeom>
          <a:noFill/>
        </p:spPr>
        <p:txBody>
          <a:bodyPr vert="horz" wrap="square" lIns="0" tIns="0" rIns="0" bIns="0" rtlCol="0">
            <a:noAutofit/>
          </a:bodyPr>
          <a:lstStyle/>
          <a:p>
            <a:pPr>
              <a:spcAft>
                <a:spcPts val="400"/>
              </a:spcAft>
            </a:pPr>
            <a:r>
              <a:rPr lang="en-US" sz="1400">
                <a:solidFill>
                  <a:srgbClr val="60756B"/>
                </a:solidFill>
                <a:latin typeface="Aptos" panose="020B0004020202020204" pitchFamily="34" charset="0"/>
              </a:rPr>
              <a:t>Hosting, backups, monitoring</a:t>
            </a:r>
          </a:p>
        </p:txBody>
      </p:sp>
      <p:sp>
        <p:nvSpPr>
          <p:cNvPr id="21" name="TextBox 20">
            <a:extLst>
              <a:ext uri="{FF2B5EF4-FFF2-40B4-BE49-F238E27FC236}">
                <a16:creationId xmlns:a16="http://schemas.microsoft.com/office/drawing/2014/main" id="{3F215EF3-B038-DB41-5835-854F05D6E98A}"/>
              </a:ext>
            </a:extLst>
          </p:cNvPr>
          <p:cNvSpPr txBox="1"/>
          <p:nvPr/>
        </p:nvSpPr>
        <p:spPr>
          <a:xfrm>
            <a:off x="4584700" y="5511799"/>
            <a:ext cx="3022600" cy="406400"/>
          </a:xfrm>
          <a:prstGeom prst="rect">
            <a:avLst/>
          </a:prstGeom>
          <a:noFill/>
        </p:spPr>
        <p:txBody>
          <a:bodyPr vert="horz" wrap="square" lIns="0" tIns="0" rIns="0" bIns="0" rtlCol="0">
            <a:noAutofit/>
          </a:bodyPr>
          <a:lstStyle/>
          <a:p>
            <a:pPr>
              <a:spcAft>
                <a:spcPts val="400"/>
              </a:spcAft>
            </a:pPr>
            <a:r>
              <a:rPr lang="en-US" sz="1400">
                <a:solidFill>
                  <a:srgbClr val="60756B"/>
                </a:solidFill>
                <a:latin typeface="Aptos" panose="020B0004020202020204" pitchFamily="34" charset="0"/>
              </a:rPr>
              <a:t>Tokens, retries, provider charges</a:t>
            </a:r>
          </a:p>
        </p:txBody>
      </p:sp>
      <p:sp>
        <p:nvSpPr>
          <p:cNvPr id="22" name="TextBox 21">
            <a:extLst>
              <a:ext uri="{FF2B5EF4-FFF2-40B4-BE49-F238E27FC236}">
                <a16:creationId xmlns:a16="http://schemas.microsoft.com/office/drawing/2014/main" id="{AEC932B7-9EAC-9081-C7C3-40AE8EF04F6B}"/>
              </a:ext>
            </a:extLst>
          </p:cNvPr>
          <p:cNvSpPr txBox="1"/>
          <p:nvPr/>
        </p:nvSpPr>
        <p:spPr>
          <a:xfrm>
            <a:off x="8382000" y="5511799"/>
            <a:ext cx="3022600" cy="406400"/>
          </a:xfrm>
          <a:prstGeom prst="rect">
            <a:avLst/>
          </a:prstGeom>
          <a:noFill/>
        </p:spPr>
        <p:txBody>
          <a:bodyPr vert="horz" wrap="square" lIns="0" tIns="0" rIns="0" bIns="0" rtlCol="0">
            <a:noAutofit/>
          </a:bodyPr>
          <a:lstStyle/>
          <a:p>
            <a:pPr>
              <a:spcAft>
                <a:spcPts val="400"/>
              </a:spcAft>
            </a:pPr>
            <a:r>
              <a:rPr lang="en-US" sz="1400">
                <a:solidFill>
                  <a:srgbClr val="60756B"/>
                </a:solidFill>
                <a:latin typeface="Aptos" panose="020B0004020202020204" pitchFamily="34" charset="0"/>
              </a:rPr>
              <a:t>Onboarding, privacy, staffing</a:t>
            </a:r>
          </a:p>
        </p:txBody>
      </p:sp>
    </p:spTree>
    <p:extLst>
      <p:ext uri="{BB962C8B-B14F-4D97-AF65-F5344CB8AC3E}">
        <p14:creationId xmlns:p14="http://schemas.microsoft.com/office/powerpoint/2010/main" val="42524164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bg>
      <p:bgPr>
        <a:solidFill>
          <a:srgbClr val="F5F2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C6954BE-1759-8324-1BC8-F863F7B6F8E2}"/>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FA5247A-4B64-FAB6-E62A-9BD25072BDB9}"/>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60756B"/>
                </a:solidFill>
                <a:latin typeface="Aptos" panose="020B0004020202020204" pitchFamily="34" charset="0"/>
              </a:rPr>
              <a:t>Q&amp;A / TRUST, ACCESS &amp; REMAINING WORK</a:t>
            </a:r>
          </a:p>
        </p:txBody>
      </p:sp>
      <p:sp>
        <p:nvSpPr>
          <p:cNvPr id="4" name="TextBox 3">
            <a:extLst>
              <a:ext uri="{FF2B5EF4-FFF2-40B4-BE49-F238E27FC236}">
                <a16:creationId xmlns:a16="http://schemas.microsoft.com/office/drawing/2014/main" id="{4B9F9F5D-02C6-7047-E2D3-31F61345DAE1}"/>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203D33"/>
                </a:solidFill>
                <a:latin typeface="Aptos" panose="020B0004020202020204" pitchFamily="34" charset="0"/>
              </a:rPr>
              <a:t>Defense in depth. No absolute guarantees.</a:t>
            </a:r>
          </a:p>
        </p:txBody>
      </p:sp>
      <p:sp>
        <p:nvSpPr>
          <p:cNvPr id="5" name="TextBox 4">
            <a:extLst>
              <a:ext uri="{FF2B5EF4-FFF2-40B4-BE49-F238E27FC236}">
                <a16:creationId xmlns:a16="http://schemas.microsoft.com/office/drawing/2014/main" id="{EAE29D69-F8B8-5ACA-7C83-7A5521DEEF4F}"/>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60756B"/>
                </a:solidFill>
                <a:latin typeface="Aptos" panose="020B0004020202020204" pitchFamily="34" charset="0"/>
              </a:rPr>
              <a:t>The pilot is not certified secure, production-ready or legally compliant.</a:t>
            </a:r>
          </a:p>
        </p:txBody>
      </p:sp>
      <p:cxnSp>
        <p:nvCxnSpPr>
          <p:cNvPr id="6" name="Straight Connector 5">
            <a:extLst>
              <a:ext uri="{FF2B5EF4-FFF2-40B4-BE49-F238E27FC236}">
                <a16:creationId xmlns:a16="http://schemas.microsoft.com/office/drawing/2014/main" id="{367C0D14-5E83-C001-56C5-F447C8CD6A2D}"/>
              </a:ext>
            </a:extLst>
          </p:cNvPr>
          <p:cNvCxnSpPr/>
          <p:nvPr/>
        </p:nvCxnSpPr>
        <p:spPr>
          <a:xfrm>
            <a:off x="533400" y="6426200"/>
            <a:ext cx="111252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8B55182C-500E-A1C0-FC8F-29107B314B84}"/>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60756B"/>
                </a:solidFill>
                <a:latin typeface="Aptos" panose="020B0004020202020204" pitchFamily="34" charset="0"/>
              </a:rPr>
              <a:t>MOSHKELTI   /   AI QUEST 2026   /   next.society()</a:t>
            </a:r>
            <a:endParaRPr lang="en-US" sz="900" b="1">
              <a:solidFill>
                <a:srgbClr val="60756B"/>
              </a:solidFill>
              <a:latin typeface="Aptos" panose="020B0004020202020204" pitchFamily="34" charset="0"/>
            </a:endParaRPr>
          </a:p>
        </p:txBody>
      </p:sp>
      <p:sp>
        <p:nvSpPr>
          <p:cNvPr id="8" name="TextBox 7">
            <a:extLst>
              <a:ext uri="{FF2B5EF4-FFF2-40B4-BE49-F238E27FC236}">
                <a16:creationId xmlns:a16="http://schemas.microsoft.com/office/drawing/2014/main" id="{9F63F193-22D9-6E85-2777-E27E406EFE3B}"/>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60756B"/>
                </a:solidFill>
                <a:latin typeface="Aptos" panose="020B0004020202020204" pitchFamily="34" charset="0"/>
              </a:rPr>
              <a:t>Q&amp;A 5</a:t>
            </a:r>
          </a:p>
        </p:txBody>
      </p:sp>
      <p:sp>
        <p:nvSpPr>
          <p:cNvPr id="9" name="Rectangle: Rounded Corners 8">
            <a:extLst>
              <a:ext uri="{FF2B5EF4-FFF2-40B4-BE49-F238E27FC236}">
                <a16:creationId xmlns:a16="http://schemas.microsoft.com/office/drawing/2014/main" id="{B2089970-4D58-C0B1-4C0A-DB9DAC2E29F3}"/>
              </a:ext>
            </a:extLst>
          </p:cNvPr>
          <p:cNvSpPr/>
          <p:nvPr/>
        </p:nvSpPr>
        <p:spPr>
          <a:xfrm>
            <a:off x="533400" y="2743200"/>
            <a:ext cx="3530600" cy="33020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7C50BEF4-9C6B-B6CE-205A-47EC489529E2}"/>
              </a:ext>
            </a:extLst>
          </p:cNvPr>
          <p:cNvSpPr txBox="1"/>
          <p:nvPr/>
        </p:nvSpPr>
        <p:spPr>
          <a:xfrm>
            <a:off x="787400" y="29717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CURRENT CONTROLS</a:t>
            </a:r>
          </a:p>
        </p:txBody>
      </p:sp>
      <p:sp>
        <p:nvSpPr>
          <p:cNvPr id="11" name="TextBox 10">
            <a:extLst>
              <a:ext uri="{FF2B5EF4-FFF2-40B4-BE49-F238E27FC236}">
                <a16:creationId xmlns:a16="http://schemas.microsoft.com/office/drawing/2014/main" id="{01201C94-8470-4E56-9D16-30F7746A4931}"/>
              </a:ext>
            </a:extLst>
          </p:cNvPr>
          <p:cNvSpPr txBox="1"/>
          <p:nvPr/>
        </p:nvSpPr>
        <p:spPr>
          <a:xfrm>
            <a:off x="787400" y="33908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Server-side gates</a:t>
            </a:r>
          </a:p>
        </p:txBody>
      </p:sp>
      <p:sp>
        <p:nvSpPr>
          <p:cNvPr id="12" name="TextBox 11">
            <a:extLst>
              <a:ext uri="{FF2B5EF4-FFF2-40B4-BE49-F238E27FC236}">
                <a16:creationId xmlns:a16="http://schemas.microsoft.com/office/drawing/2014/main" id="{54948DB0-646C-0641-36DE-77B623C849B7}"/>
              </a:ext>
            </a:extLst>
          </p:cNvPr>
          <p:cNvSpPr txBox="1"/>
          <p:nvPr/>
        </p:nvSpPr>
        <p:spPr>
          <a:xfrm>
            <a:off x="787400" y="4330699"/>
            <a:ext cx="3022600" cy="15367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Policies + restricted-account checks; MFA; CSRF; scoped private evidence; idempotency; stale-version rejection; validated AI output; no model tools.</a:t>
            </a:r>
          </a:p>
        </p:txBody>
      </p:sp>
      <p:sp>
        <p:nvSpPr>
          <p:cNvPr id="13" name="Rectangle: Rounded Corners 12">
            <a:extLst>
              <a:ext uri="{FF2B5EF4-FFF2-40B4-BE49-F238E27FC236}">
                <a16:creationId xmlns:a16="http://schemas.microsoft.com/office/drawing/2014/main" id="{247A1028-635F-408B-F7A4-5C01B459BC50}"/>
              </a:ext>
            </a:extLst>
          </p:cNvPr>
          <p:cNvSpPr/>
          <p:nvPr/>
        </p:nvSpPr>
        <p:spPr>
          <a:xfrm>
            <a:off x="4330700" y="2743200"/>
            <a:ext cx="3530600" cy="33020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D3F80BCB-7D3B-2A8F-E7FD-CBB6684C3CF2}"/>
              </a:ext>
            </a:extLst>
          </p:cNvPr>
          <p:cNvSpPr txBox="1"/>
          <p:nvPr/>
        </p:nvSpPr>
        <p:spPr>
          <a:xfrm>
            <a:off x="4584700" y="29717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ANDROID BOUNDARY</a:t>
            </a:r>
          </a:p>
        </p:txBody>
      </p:sp>
      <p:sp>
        <p:nvSpPr>
          <p:cNvPr id="15" name="TextBox 14">
            <a:extLst>
              <a:ext uri="{FF2B5EF4-FFF2-40B4-BE49-F238E27FC236}">
                <a16:creationId xmlns:a16="http://schemas.microsoft.com/office/drawing/2014/main" id="{F5535DFC-42B7-9C7E-873D-CE91EFA91D00}"/>
              </a:ext>
            </a:extLst>
          </p:cNvPr>
          <p:cNvSpPr txBox="1"/>
          <p:nvPr/>
        </p:nvSpPr>
        <p:spPr>
          <a:xfrm>
            <a:off x="4584700" y="33908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Citizen-only HTTPS</a:t>
            </a:r>
          </a:p>
        </p:txBody>
      </p:sp>
      <p:sp>
        <p:nvSpPr>
          <p:cNvPr id="16" name="TextBox 15">
            <a:extLst>
              <a:ext uri="{FF2B5EF4-FFF2-40B4-BE49-F238E27FC236}">
                <a16:creationId xmlns:a16="http://schemas.microsoft.com/office/drawing/2014/main" id="{A3BDC3FF-3560-158B-7074-3FD76C7DDBF7}"/>
              </a:ext>
            </a:extLst>
          </p:cNvPr>
          <p:cNvSpPr txBox="1"/>
          <p:nvPr/>
        </p:nvSpPr>
        <p:spPr>
          <a:xfrm>
            <a:off x="4584700" y="4330699"/>
            <a:ext cx="3022600" cy="15367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Separate server mode blocks admins. Narrow local CA trust; invalid TLS refused; no native JS bridge. APK needs the PC. Physical-device checks still required.</a:t>
            </a:r>
          </a:p>
        </p:txBody>
      </p:sp>
      <p:sp>
        <p:nvSpPr>
          <p:cNvPr id="17" name="Rectangle: Rounded Corners 16">
            <a:extLst>
              <a:ext uri="{FF2B5EF4-FFF2-40B4-BE49-F238E27FC236}">
                <a16:creationId xmlns:a16="http://schemas.microsoft.com/office/drawing/2014/main" id="{E4D7AB7C-629C-EFDC-83D1-3750449B6203}"/>
              </a:ext>
            </a:extLst>
          </p:cNvPr>
          <p:cNvSpPr/>
          <p:nvPr/>
        </p:nvSpPr>
        <p:spPr>
          <a:xfrm>
            <a:off x="8128000" y="2743200"/>
            <a:ext cx="3530600" cy="3302000"/>
          </a:xfrm>
          <a:prstGeom prst="roundRect">
            <a:avLst>
              <a:gd name="adj" fmla="val 13000"/>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8C4FEFC5-8E87-7D10-ACA2-D23530AEE009}"/>
              </a:ext>
            </a:extLst>
          </p:cNvPr>
          <p:cNvSpPr txBox="1"/>
          <p:nvPr/>
        </p:nvSpPr>
        <p:spPr>
          <a:xfrm>
            <a:off x="8382000" y="2971799"/>
            <a:ext cx="3022600" cy="279400"/>
          </a:xfrm>
          <a:prstGeom prst="rect">
            <a:avLst/>
          </a:prstGeom>
          <a:noFill/>
        </p:spPr>
        <p:txBody>
          <a:bodyPr vert="horz" wrap="square" lIns="0" tIns="0" rIns="0" bIns="0" rtlCol="0">
            <a:noAutofit/>
          </a:bodyPr>
          <a:lstStyle/>
          <a:p>
            <a:pPr>
              <a:spcAft>
                <a:spcPts val="400"/>
              </a:spcAft>
            </a:pPr>
            <a:r>
              <a:rPr lang="en-US" sz="1100" b="1">
                <a:solidFill>
                  <a:srgbClr val="CC582D"/>
                </a:solidFill>
                <a:latin typeface="Aptos" panose="020B0004020202020204" pitchFamily="34" charset="0"/>
              </a:rPr>
              <a:t>BEFORE REAL CITIZENS</a:t>
            </a:r>
          </a:p>
        </p:txBody>
      </p:sp>
      <p:sp>
        <p:nvSpPr>
          <p:cNvPr id="19" name="TextBox 18">
            <a:extLst>
              <a:ext uri="{FF2B5EF4-FFF2-40B4-BE49-F238E27FC236}">
                <a16:creationId xmlns:a16="http://schemas.microsoft.com/office/drawing/2014/main" id="{10898003-0CDA-AFFF-84AC-E8ADE0A3EC69}"/>
              </a:ext>
            </a:extLst>
          </p:cNvPr>
          <p:cNvSpPr txBox="1"/>
          <p:nvPr/>
        </p:nvSpPr>
        <p:spPr>
          <a:xfrm>
            <a:off x="8382000" y="3390899"/>
            <a:ext cx="3022600" cy="787400"/>
          </a:xfrm>
          <a:prstGeom prst="rect">
            <a:avLst/>
          </a:prstGeom>
          <a:noFill/>
        </p:spPr>
        <p:txBody>
          <a:bodyPr vert="horz" wrap="square" lIns="0" tIns="0" rIns="0" bIns="0" rtlCol="0">
            <a:noAutofit/>
          </a:bodyPr>
          <a:lstStyle/>
          <a:p>
            <a:pPr>
              <a:spcAft>
                <a:spcPts val="400"/>
              </a:spcAft>
            </a:pPr>
            <a:r>
              <a:rPr lang="en-US" sz="2400" b="1">
                <a:solidFill>
                  <a:srgbClr val="203D33"/>
                </a:solidFill>
                <a:latin typeface="Aptos" panose="020B0004020202020204" pitchFamily="34" charset="0"/>
              </a:rPr>
              <a:t>Operational approval</a:t>
            </a:r>
          </a:p>
        </p:txBody>
      </p:sp>
      <p:sp>
        <p:nvSpPr>
          <p:cNvPr id="20" name="TextBox 19">
            <a:extLst>
              <a:ext uri="{FF2B5EF4-FFF2-40B4-BE49-F238E27FC236}">
                <a16:creationId xmlns:a16="http://schemas.microsoft.com/office/drawing/2014/main" id="{7F3081ED-9D04-89C0-8CD7-7E8BE4B4EB15}"/>
              </a:ext>
            </a:extLst>
          </p:cNvPr>
          <p:cNvSpPr txBox="1"/>
          <p:nvPr/>
        </p:nvSpPr>
        <p:spPr>
          <a:xfrm>
            <a:off x="8382000" y="4330699"/>
            <a:ext cx="3022600" cy="1536700"/>
          </a:xfrm>
          <a:prstGeom prst="rect">
            <a:avLst/>
          </a:prstGeom>
          <a:noFill/>
        </p:spPr>
        <p:txBody>
          <a:bodyPr vert="horz" wrap="square" lIns="0" tIns="0" rIns="0" bIns="0" rtlCol="0">
            <a:noAutofit/>
          </a:bodyPr>
          <a:lstStyle/>
          <a:p>
            <a:pPr>
              <a:spcAft>
                <a:spcPts val="400"/>
              </a:spcAft>
            </a:pPr>
            <a:r>
              <a:rPr lang="en-US" sz="1600">
                <a:solidFill>
                  <a:srgbClr val="60756B"/>
                </a:solidFill>
                <a:latin typeface="Aptos" panose="020B0004020202020204" pitchFamily="34" charset="0"/>
              </a:rPr>
              <a:t>Real identity/SMS; provider privacy terms; maintained scanning; encrypted backups and restore test; jurisdiction data; approved delivery; device, load and security review.</a:t>
            </a:r>
          </a:p>
        </p:txBody>
      </p:sp>
    </p:spTree>
    <p:extLst>
      <p:ext uri="{BB962C8B-B14F-4D97-AF65-F5344CB8AC3E}">
        <p14:creationId xmlns:p14="http://schemas.microsoft.com/office/powerpoint/2010/main" val="5612554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bg>
      <p:bgPr>
        <a:solidFill>
          <a:srgbClr val="F5F2EA"/>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BAACF5-A04E-36A1-D9BA-4B02C1222C0C}"/>
              </a:ext>
            </a:extLst>
          </p:cNvPr>
          <p:cNvSpPr/>
          <p:nvPr/>
        </p:nvSpPr>
        <p:spPr>
          <a:xfrm>
            <a:off x="533400" y="355600"/>
            <a:ext cx="304800" cy="50800"/>
          </a:xfrm>
          <a:prstGeom prst="rect">
            <a:avLst/>
          </a:prstGeom>
          <a:solidFill>
            <a:srgbClr val="CC582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8CF4249-E2FD-55E5-123A-3E09B1EECC41}"/>
              </a:ext>
            </a:extLst>
          </p:cNvPr>
          <p:cNvSpPr txBox="1"/>
          <p:nvPr/>
        </p:nvSpPr>
        <p:spPr>
          <a:xfrm>
            <a:off x="990600" y="228599"/>
            <a:ext cx="10160000" cy="304800"/>
          </a:xfrm>
          <a:prstGeom prst="rect">
            <a:avLst/>
          </a:prstGeom>
          <a:noFill/>
        </p:spPr>
        <p:txBody>
          <a:bodyPr vert="horz" wrap="square" lIns="0" tIns="0" rIns="0" bIns="0" rtlCol="0">
            <a:noAutofit/>
          </a:bodyPr>
          <a:lstStyle/>
          <a:p>
            <a:pPr>
              <a:spcAft>
                <a:spcPts val="400"/>
              </a:spcAft>
            </a:pPr>
            <a:r>
              <a:rPr lang="en-US" sz="1100" b="1">
                <a:solidFill>
                  <a:srgbClr val="60756B"/>
                </a:solidFill>
                <a:latin typeface="Aptos" panose="020B0004020202020204" pitchFamily="34" charset="0"/>
              </a:rPr>
              <a:t>Q&amp;A / EVIDENCE, DELIVERABLES &amp; REFERENCES</a:t>
            </a:r>
          </a:p>
        </p:txBody>
      </p:sp>
      <p:sp>
        <p:nvSpPr>
          <p:cNvPr id="4" name="TextBox 3">
            <a:extLst>
              <a:ext uri="{FF2B5EF4-FFF2-40B4-BE49-F238E27FC236}">
                <a16:creationId xmlns:a16="http://schemas.microsoft.com/office/drawing/2014/main" id="{C809FFE8-C640-1B54-4D50-FB715BBF2AB3}"/>
              </a:ext>
            </a:extLst>
          </p:cNvPr>
          <p:cNvSpPr txBox="1"/>
          <p:nvPr/>
        </p:nvSpPr>
        <p:spPr>
          <a:xfrm>
            <a:off x="533400" y="736599"/>
            <a:ext cx="11125200" cy="1041400"/>
          </a:xfrm>
          <a:prstGeom prst="rect">
            <a:avLst/>
          </a:prstGeom>
          <a:noFill/>
        </p:spPr>
        <p:txBody>
          <a:bodyPr vert="horz" wrap="square" lIns="0" tIns="0" rIns="0" bIns="0" rtlCol="0">
            <a:noAutofit/>
          </a:bodyPr>
          <a:lstStyle/>
          <a:p>
            <a:pPr>
              <a:spcAft>
                <a:spcPts val="400"/>
              </a:spcAft>
            </a:pPr>
            <a:r>
              <a:rPr lang="en-US" sz="3300" b="1">
                <a:solidFill>
                  <a:srgbClr val="203D33"/>
                </a:solidFill>
                <a:latin typeface="Aptos" panose="020B0004020202020204" pitchFamily="34" charset="0"/>
              </a:rPr>
              <a:t>Evidence you can inspect.</a:t>
            </a:r>
          </a:p>
        </p:txBody>
      </p:sp>
      <p:sp>
        <p:nvSpPr>
          <p:cNvPr id="5" name="TextBox 4">
            <a:extLst>
              <a:ext uri="{FF2B5EF4-FFF2-40B4-BE49-F238E27FC236}">
                <a16:creationId xmlns:a16="http://schemas.microsoft.com/office/drawing/2014/main" id="{A18D98B9-E764-CDE4-7730-3D6858FF95D9}"/>
              </a:ext>
            </a:extLst>
          </p:cNvPr>
          <p:cNvSpPr txBox="1"/>
          <p:nvPr/>
        </p:nvSpPr>
        <p:spPr>
          <a:xfrm>
            <a:off x="533400" y="1879599"/>
            <a:ext cx="11125200" cy="533400"/>
          </a:xfrm>
          <a:prstGeom prst="rect">
            <a:avLst/>
          </a:prstGeom>
          <a:noFill/>
        </p:spPr>
        <p:txBody>
          <a:bodyPr vert="horz" wrap="square" lIns="0" tIns="0" rIns="0" bIns="0" rtlCol="0">
            <a:noAutofit/>
          </a:bodyPr>
          <a:lstStyle/>
          <a:p>
            <a:pPr>
              <a:spcAft>
                <a:spcPts val="400"/>
              </a:spcAft>
            </a:pPr>
            <a:r>
              <a:rPr lang="en-US" sz="1700">
                <a:solidFill>
                  <a:srgbClr val="60756B"/>
                </a:solidFill>
                <a:latin typeface="Aptos" panose="020B0004020202020204" pitchFamily="34" charset="0"/>
              </a:rPr>
              <a:t>Rubric and schedule: organizer brief supplied by the team. No invented user research or traction.</a:t>
            </a:r>
          </a:p>
        </p:txBody>
      </p:sp>
      <p:cxnSp>
        <p:nvCxnSpPr>
          <p:cNvPr id="6" name="Straight Connector 5">
            <a:extLst>
              <a:ext uri="{FF2B5EF4-FFF2-40B4-BE49-F238E27FC236}">
                <a16:creationId xmlns:a16="http://schemas.microsoft.com/office/drawing/2014/main" id="{C89642CE-2BB2-84A6-6413-704AA54A8EEE}"/>
              </a:ext>
            </a:extLst>
          </p:cNvPr>
          <p:cNvCxnSpPr/>
          <p:nvPr/>
        </p:nvCxnSpPr>
        <p:spPr>
          <a:xfrm>
            <a:off x="533400" y="6426200"/>
            <a:ext cx="11125200" cy="0"/>
          </a:xfrm>
          <a:prstGeom prst="line">
            <a:avLst/>
          </a:prstGeom>
          <a:ln w="12700">
            <a:solidFill>
              <a:srgbClr val="D9E1D8"/>
            </a:solidFill>
          </a:ln>
        </p:spPr>
        <p:style>
          <a:lnRef idx="2">
            <a:schemeClr val="accent1"/>
          </a:lnRef>
          <a:fillRef idx="0">
            <a:schemeClr val="accent1"/>
          </a:fillRef>
          <a:effectRef idx="1">
            <a:schemeClr val="accent1"/>
          </a:effectRef>
          <a:fontRef idx="minor">
            <a:schemeClr val="tx1"/>
          </a:fontRef>
        </p:style>
      </p:cxnSp>
      <p:sp>
        <p:nvSpPr>
          <p:cNvPr id="7" name="TextBox 6">
            <a:extLst>
              <a:ext uri="{FF2B5EF4-FFF2-40B4-BE49-F238E27FC236}">
                <a16:creationId xmlns:a16="http://schemas.microsoft.com/office/drawing/2014/main" id="{05B048B9-96B1-3BF7-6562-3C02DE396C23}"/>
              </a:ext>
            </a:extLst>
          </p:cNvPr>
          <p:cNvSpPr txBox="1"/>
          <p:nvPr/>
        </p:nvSpPr>
        <p:spPr>
          <a:xfrm>
            <a:off x="533400" y="6540500"/>
            <a:ext cx="9144000" cy="215900"/>
          </a:xfrm>
          <a:prstGeom prst="rect">
            <a:avLst/>
          </a:prstGeom>
          <a:noFill/>
        </p:spPr>
        <p:txBody>
          <a:bodyPr vert="horz" wrap="square" lIns="0" tIns="0" rIns="0" bIns="0" rtlCol="0">
            <a:noAutofit/>
          </a:bodyPr>
          <a:lstStyle/>
          <a:p>
            <a:pPr>
              <a:spcAft>
                <a:spcPts val="400"/>
              </a:spcAft>
            </a:pPr>
            <a:r>
              <a:rPr lang="it-IT" sz="900" b="1">
                <a:solidFill>
                  <a:srgbClr val="60756B"/>
                </a:solidFill>
                <a:latin typeface="Aptos" panose="020B0004020202020204" pitchFamily="34" charset="0"/>
              </a:rPr>
              <a:t>MOSHKELTI   /   AI QUEST 2026   /   next.society()</a:t>
            </a:r>
            <a:endParaRPr lang="en-US" sz="900" b="1">
              <a:solidFill>
                <a:srgbClr val="60756B"/>
              </a:solidFill>
              <a:latin typeface="Aptos" panose="020B0004020202020204" pitchFamily="34" charset="0"/>
            </a:endParaRPr>
          </a:p>
        </p:txBody>
      </p:sp>
      <p:sp>
        <p:nvSpPr>
          <p:cNvPr id="8" name="TextBox 7">
            <a:extLst>
              <a:ext uri="{FF2B5EF4-FFF2-40B4-BE49-F238E27FC236}">
                <a16:creationId xmlns:a16="http://schemas.microsoft.com/office/drawing/2014/main" id="{3FE6E704-41BC-413B-47C7-1655060E4C7B}"/>
              </a:ext>
            </a:extLst>
          </p:cNvPr>
          <p:cNvSpPr txBox="1"/>
          <p:nvPr/>
        </p:nvSpPr>
        <p:spPr>
          <a:xfrm>
            <a:off x="10337800" y="6540500"/>
            <a:ext cx="1320800" cy="215900"/>
          </a:xfrm>
          <a:prstGeom prst="rect">
            <a:avLst/>
          </a:prstGeom>
          <a:noFill/>
        </p:spPr>
        <p:txBody>
          <a:bodyPr vert="horz" wrap="square" lIns="0" tIns="0" rIns="0" bIns="0" rtlCol="0">
            <a:noAutofit/>
          </a:bodyPr>
          <a:lstStyle/>
          <a:p>
            <a:pPr algn="r">
              <a:spcAft>
                <a:spcPts val="400"/>
              </a:spcAft>
            </a:pPr>
            <a:r>
              <a:rPr lang="en-US" sz="900" b="1">
                <a:solidFill>
                  <a:srgbClr val="60756B"/>
                </a:solidFill>
                <a:latin typeface="Aptos" panose="020B0004020202020204" pitchFamily="34" charset="0"/>
              </a:rPr>
              <a:t>Q&amp;A 6</a:t>
            </a:r>
          </a:p>
        </p:txBody>
      </p:sp>
      <p:sp>
        <p:nvSpPr>
          <p:cNvPr id="9" name="TextBox 8">
            <a:hlinkClick r:id="rId3"/>
            <a:extLst>
              <a:ext uri="{FF2B5EF4-FFF2-40B4-BE49-F238E27FC236}">
                <a16:creationId xmlns:a16="http://schemas.microsoft.com/office/drawing/2014/main" id="{573D9B0E-36D4-3083-B1C9-2FF46584FC35}"/>
              </a:ext>
            </a:extLst>
          </p:cNvPr>
          <p:cNvSpPr txBox="1"/>
          <p:nvPr/>
        </p:nvSpPr>
        <p:spPr>
          <a:xfrm>
            <a:off x="533400" y="2654299"/>
            <a:ext cx="11125200" cy="342900"/>
          </a:xfrm>
          <a:prstGeom prst="rect">
            <a:avLst/>
          </a:prstGeom>
          <a:noFill/>
        </p:spPr>
        <p:txBody>
          <a:bodyPr vert="horz" wrap="square" lIns="0" tIns="0" rIns="0" bIns="0" rtlCol="0">
            <a:noAutofit/>
          </a:bodyPr>
          <a:lstStyle/>
          <a:p>
            <a:pPr>
              <a:spcAft>
                <a:spcPts val="400"/>
              </a:spcAft>
            </a:pPr>
            <a:r>
              <a:rPr lang="en-US" sz="2000" b="1">
                <a:solidFill>
                  <a:srgbClr val="173F35"/>
                </a:solidFill>
                <a:latin typeface="Aptos" panose="020B0004020202020204" pitchFamily="34" charset="0"/>
              </a:rPr>
              <a:t>Competition brief</a:t>
            </a:r>
          </a:p>
        </p:txBody>
      </p:sp>
      <p:sp>
        <p:nvSpPr>
          <p:cNvPr id="10" name="TextBox 9">
            <a:extLst>
              <a:ext uri="{FF2B5EF4-FFF2-40B4-BE49-F238E27FC236}">
                <a16:creationId xmlns:a16="http://schemas.microsoft.com/office/drawing/2014/main" id="{7411B924-540D-465E-C31B-2D7139759A2D}"/>
              </a:ext>
            </a:extLst>
          </p:cNvPr>
          <p:cNvSpPr txBox="1"/>
          <p:nvPr/>
        </p:nvSpPr>
        <p:spPr>
          <a:xfrm>
            <a:off x="533400" y="3035299"/>
            <a:ext cx="11125200" cy="381000"/>
          </a:xfrm>
          <a:prstGeom prst="rect">
            <a:avLst/>
          </a:prstGeom>
          <a:noFill/>
        </p:spPr>
        <p:txBody>
          <a:bodyPr vert="horz" wrap="square" lIns="0" tIns="0" rIns="0" bIns="0" rtlCol="0">
            <a:noAutofit/>
          </a:bodyPr>
          <a:lstStyle/>
          <a:p>
            <a:pPr>
              <a:spcAft>
                <a:spcPts val="400"/>
              </a:spcAft>
            </a:pPr>
            <a:r>
              <a:rPr lang="en-US" sz="1400">
                <a:solidFill>
                  <a:srgbClr val="60756B"/>
                </a:solidFill>
                <a:latin typeface="Aptos" panose="020B0004020202020204" pitchFamily="34" charset="0"/>
              </a:rPr>
              <a:t>7 min + 3 min; six criteria; submission before 13:00 on Day 2 (verify organizer updates).</a:t>
            </a:r>
          </a:p>
        </p:txBody>
      </p:sp>
      <p:sp>
        <p:nvSpPr>
          <p:cNvPr id="11" name="TextBox 10">
            <a:hlinkClick r:id="rId4"/>
            <a:extLst>
              <a:ext uri="{FF2B5EF4-FFF2-40B4-BE49-F238E27FC236}">
                <a16:creationId xmlns:a16="http://schemas.microsoft.com/office/drawing/2014/main" id="{2A2E3060-269A-78C9-C85C-FEA8A8A1398E}"/>
              </a:ext>
            </a:extLst>
          </p:cNvPr>
          <p:cNvSpPr txBox="1"/>
          <p:nvPr/>
        </p:nvSpPr>
        <p:spPr>
          <a:xfrm>
            <a:off x="533400" y="3568699"/>
            <a:ext cx="11125200" cy="342900"/>
          </a:xfrm>
          <a:prstGeom prst="rect">
            <a:avLst/>
          </a:prstGeom>
          <a:noFill/>
        </p:spPr>
        <p:txBody>
          <a:bodyPr vert="horz" wrap="square" lIns="0" tIns="0" rIns="0" bIns="0" rtlCol="0">
            <a:noAutofit/>
          </a:bodyPr>
          <a:lstStyle/>
          <a:p>
            <a:pPr>
              <a:spcAft>
                <a:spcPts val="400"/>
              </a:spcAft>
            </a:pPr>
            <a:r>
              <a:rPr lang="en-US" sz="2000" b="1">
                <a:solidFill>
                  <a:srgbClr val="173F35"/>
                </a:solidFill>
                <a:latin typeface="Aptos" panose="020B0004020202020204" pitchFamily="34" charset="0"/>
              </a:rPr>
              <a:t>Existing official solution</a:t>
            </a:r>
          </a:p>
        </p:txBody>
      </p:sp>
      <p:sp>
        <p:nvSpPr>
          <p:cNvPr id="12" name="TextBox 11">
            <a:extLst>
              <a:ext uri="{FF2B5EF4-FFF2-40B4-BE49-F238E27FC236}">
                <a16:creationId xmlns:a16="http://schemas.microsoft.com/office/drawing/2014/main" id="{242E77E6-B497-89A5-4A6A-B439B95709FD}"/>
              </a:ext>
            </a:extLst>
          </p:cNvPr>
          <p:cNvSpPr txBox="1"/>
          <p:nvPr/>
        </p:nvSpPr>
        <p:spPr>
          <a:xfrm>
            <a:off x="533400" y="3949699"/>
            <a:ext cx="11125200" cy="381000"/>
          </a:xfrm>
          <a:prstGeom prst="rect">
            <a:avLst/>
          </a:prstGeom>
          <a:noFill/>
        </p:spPr>
        <p:txBody>
          <a:bodyPr vert="horz" wrap="square" lIns="0" tIns="0" rIns="0" bIns="0" rtlCol="0">
            <a:noAutofit/>
          </a:bodyPr>
          <a:lstStyle/>
          <a:p>
            <a:pPr>
              <a:spcAft>
                <a:spcPts val="400"/>
              </a:spcAft>
            </a:pPr>
            <a:r>
              <a:rPr lang="en-US" sz="1400">
                <a:solidFill>
                  <a:srgbClr val="60756B"/>
                </a:solidFill>
                <a:latin typeface="Aptos" panose="020B0004020202020204" pitchFamily="34" charset="0"/>
              </a:rPr>
              <a:t>GAM app listing describes reporting, photos, location, tracking and Arabic/English.</a:t>
            </a:r>
          </a:p>
        </p:txBody>
      </p:sp>
      <p:sp>
        <p:nvSpPr>
          <p:cNvPr id="13" name="TextBox 12">
            <a:hlinkClick r:id="rId5"/>
            <a:extLst>
              <a:ext uri="{FF2B5EF4-FFF2-40B4-BE49-F238E27FC236}">
                <a16:creationId xmlns:a16="http://schemas.microsoft.com/office/drawing/2014/main" id="{0350F10E-7C6B-76BB-EEEF-CF79DFAE3DC1}"/>
              </a:ext>
            </a:extLst>
          </p:cNvPr>
          <p:cNvSpPr txBox="1"/>
          <p:nvPr/>
        </p:nvSpPr>
        <p:spPr>
          <a:xfrm>
            <a:off x="533400" y="4483099"/>
            <a:ext cx="11125200" cy="342900"/>
          </a:xfrm>
          <a:prstGeom prst="rect">
            <a:avLst/>
          </a:prstGeom>
          <a:noFill/>
        </p:spPr>
        <p:txBody>
          <a:bodyPr vert="horz" wrap="square" lIns="0" tIns="0" rIns="0" bIns="0" rtlCol="0">
            <a:noAutofit/>
          </a:bodyPr>
          <a:lstStyle/>
          <a:p>
            <a:pPr>
              <a:spcAft>
                <a:spcPts val="400"/>
              </a:spcAft>
            </a:pPr>
            <a:r>
              <a:rPr lang="en-US" sz="2000" b="1">
                <a:solidFill>
                  <a:srgbClr val="173F35"/>
                </a:solidFill>
                <a:latin typeface="Aptos" panose="020B0004020202020204" pitchFamily="34" charset="0"/>
              </a:rPr>
              <a:t>Main source + run instructions</a:t>
            </a:r>
          </a:p>
        </p:txBody>
      </p:sp>
      <p:sp>
        <p:nvSpPr>
          <p:cNvPr id="14" name="TextBox 13">
            <a:extLst>
              <a:ext uri="{FF2B5EF4-FFF2-40B4-BE49-F238E27FC236}">
                <a16:creationId xmlns:a16="http://schemas.microsoft.com/office/drawing/2014/main" id="{F86CA67E-807C-8FA2-CD7A-41E83CFBAF0B}"/>
              </a:ext>
            </a:extLst>
          </p:cNvPr>
          <p:cNvSpPr txBox="1"/>
          <p:nvPr/>
        </p:nvSpPr>
        <p:spPr>
          <a:xfrm>
            <a:off x="533400" y="4864099"/>
            <a:ext cx="11125200" cy="381000"/>
          </a:xfrm>
          <a:prstGeom prst="rect">
            <a:avLst/>
          </a:prstGeom>
          <a:noFill/>
        </p:spPr>
        <p:txBody>
          <a:bodyPr vert="horz" wrap="square" lIns="0" tIns="0" rIns="0" bIns="0" rtlCol="0">
            <a:noAutofit/>
          </a:bodyPr>
          <a:lstStyle/>
          <a:p>
            <a:pPr>
              <a:spcAft>
                <a:spcPts val="400"/>
              </a:spcAft>
            </a:pPr>
            <a:r>
              <a:rPr lang="en-US" sz="1400">
                <a:solidFill>
                  <a:srgbClr val="60756B"/>
                </a:solidFill>
                <a:latin typeface="Aptos" panose="020B0004020202020204" pitchFamily="34" charset="0"/>
              </a:rPr>
              <a:t>AI_HACKTHON_2026 · README.md · docs/SECURITY.md · docs/ANDROID_PILOT.md</a:t>
            </a:r>
          </a:p>
        </p:txBody>
      </p:sp>
      <p:sp>
        <p:nvSpPr>
          <p:cNvPr id="15" name="TextBox 14">
            <a:hlinkClick r:id="rId6"/>
            <a:extLst>
              <a:ext uri="{FF2B5EF4-FFF2-40B4-BE49-F238E27FC236}">
                <a16:creationId xmlns:a16="http://schemas.microsoft.com/office/drawing/2014/main" id="{937F0E66-72CB-0640-F851-68A1B5FA5F11}"/>
              </a:ext>
            </a:extLst>
          </p:cNvPr>
          <p:cNvSpPr txBox="1"/>
          <p:nvPr/>
        </p:nvSpPr>
        <p:spPr>
          <a:xfrm>
            <a:off x="533400" y="5397499"/>
            <a:ext cx="11125200" cy="342900"/>
          </a:xfrm>
          <a:prstGeom prst="rect">
            <a:avLst/>
          </a:prstGeom>
          <a:noFill/>
        </p:spPr>
        <p:txBody>
          <a:bodyPr vert="horz" wrap="square" lIns="0" tIns="0" rIns="0" bIns="0" rtlCol="0">
            <a:noAutofit/>
          </a:bodyPr>
          <a:lstStyle/>
          <a:p>
            <a:pPr>
              <a:spcAft>
                <a:spcPts val="400"/>
              </a:spcAft>
            </a:pPr>
            <a:r>
              <a:rPr lang="en-US" sz="2000" b="1">
                <a:solidFill>
                  <a:srgbClr val="173F35"/>
                </a:solidFill>
                <a:latin typeface="Aptos" panose="020B0004020202020204" pitchFamily="34" charset="0"/>
              </a:rPr>
              <a:t>Citizen-only Android source</a:t>
            </a:r>
          </a:p>
        </p:txBody>
      </p:sp>
      <p:sp>
        <p:nvSpPr>
          <p:cNvPr id="16" name="TextBox 15">
            <a:extLst>
              <a:ext uri="{FF2B5EF4-FFF2-40B4-BE49-F238E27FC236}">
                <a16:creationId xmlns:a16="http://schemas.microsoft.com/office/drawing/2014/main" id="{31CE90D2-1BB2-C790-6246-FCF9DA61070F}"/>
              </a:ext>
            </a:extLst>
          </p:cNvPr>
          <p:cNvSpPr txBox="1"/>
          <p:nvPr/>
        </p:nvSpPr>
        <p:spPr>
          <a:xfrm>
            <a:off x="533400" y="5778499"/>
            <a:ext cx="11125200" cy="381000"/>
          </a:xfrm>
          <a:prstGeom prst="rect">
            <a:avLst/>
          </a:prstGeom>
          <a:noFill/>
        </p:spPr>
        <p:txBody>
          <a:bodyPr vert="horz" wrap="square" lIns="0" tIns="0" rIns="0" bIns="0" rtlCol="0">
            <a:noAutofit/>
          </a:bodyPr>
          <a:lstStyle/>
          <a:p>
            <a:pPr>
              <a:spcAft>
                <a:spcPts val="400"/>
              </a:spcAft>
            </a:pPr>
            <a:r>
              <a:rPr lang="en-US" sz="1400">
                <a:solidFill>
                  <a:srgbClr val="60756B"/>
                </a:solidFill>
                <a:latin typeface="Aptos" panose="020B0004020202020204" pitchFamily="34" charset="0"/>
              </a:rPr>
              <a:t>Separate private repository. Judges need explicitly authorized repository access.</a:t>
            </a:r>
          </a:p>
        </p:txBody>
      </p:sp>
    </p:spTree>
    <p:extLst>
      <p:ext uri="{BB962C8B-B14F-4D97-AF65-F5344CB8AC3E}">
        <p14:creationId xmlns:p14="http://schemas.microsoft.com/office/powerpoint/2010/main" val="24180851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3215</Words>
  <Application>Microsoft Office PowerPoint</Application>
  <PresentationFormat>Custom</PresentationFormat>
  <Paragraphs>257</Paragraphs>
  <Slides>14</Slides>
  <Notes>14</Notes>
  <HiddenSlides>6</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Aptos</vt:lpstr>
      <vt:lpstr>Aptos Display</vt:lpstr>
      <vt:lpstr>Arial</vt:lpstr>
      <vt:lpstr>Tahoma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احمد هيثم احمد الحمصي</dc:creator>
  <cp:lastModifiedBy>احمد هيثم احمد الحمصي</cp:lastModifiedBy>
  <cp:revision>2</cp:revision>
  <dcterms:created xsi:type="dcterms:W3CDTF">2026-10-10T08:37:58Z</dcterms:created>
  <dcterms:modified xsi:type="dcterms:W3CDTF">2026-10-10T08:38:01Z</dcterms:modified>
</cp:coreProperties>
</file>